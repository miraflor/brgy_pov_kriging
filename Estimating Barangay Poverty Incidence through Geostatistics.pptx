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66" r:id="rId4"/>
    <p:sldId id="267" r:id="rId5"/>
    <p:sldId id="268" r:id="rId6"/>
    <p:sldId id="260" r:id="rId7"/>
    <p:sldId id="270" r:id="rId8"/>
    <p:sldId id="271" r:id="rId9"/>
    <p:sldId id="273" r:id="rId10"/>
    <p:sldId id="269" r:id="rId11"/>
    <p:sldId id="272" r:id="rId12"/>
    <p:sldId id="257" r:id="rId13"/>
    <p:sldId id="274" r:id="rId14"/>
    <p:sldId id="259" r:id="rId15"/>
    <p:sldId id="258" r:id="rId16"/>
    <p:sldId id="263" r:id="rId17"/>
    <p:sldId id="262" r:id="rId18"/>
    <p:sldId id="261" r:id="rId19"/>
    <p:sldId id="275"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158"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PH"/>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PH"/>
          </a:p>
        </p:txBody>
      </p:sp>
      <p:sp>
        <p:nvSpPr>
          <p:cNvPr id="4" name="Date Placeholder 3"/>
          <p:cNvSpPr>
            <a:spLocks noGrp="1"/>
          </p:cNvSpPr>
          <p:nvPr>
            <p:ph type="dt" sz="half" idx="10"/>
          </p:nvPr>
        </p:nvSpPr>
        <p:spPr/>
        <p:txBody>
          <a:bodyPr/>
          <a:lstStyle/>
          <a:p>
            <a:fld id="{2680B0E4-427A-4075-B038-053715C97BC1}" type="datetimeFigureOut">
              <a:rPr lang="en-PH" smtClean="0"/>
              <a:t>9/18/2013</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AC7F37F2-9C26-4656-A90E-D1C6E7F89D4C}" type="slidenum">
              <a:rPr lang="en-PH" smtClean="0"/>
              <a:t>‹#›</a:t>
            </a:fld>
            <a:endParaRPr lang="en-PH"/>
          </a:p>
        </p:txBody>
      </p:sp>
    </p:spTree>
    <p:extLst>
      <p:ext uri="{BB962C8B-B14F-4D97-AF65-F5344CB8AC3E}">
        <p14:creationId xmlns:p14="http://schemas.microsoft.com/office/powerpoint/2010/main" val="3462603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2680B0E4-427A-4075-B038-053715C97BC1}" type="datetimeFigureOut">
              <a:rPr lang="en-PH" smtClean="0"/>
              <a:t>9/18/2013</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AC7F37F2-9C26-4656-A90E-D1C6E7F89D4C}" type="slidenum">
              <a:rPr lang="en-PH" smtClean="0"/>
              <a:t>‹#›</a:t>
            </a:fld>
            <a:endParaRPr lang="en-PH"/>
          </a:p>
        </p:txBody>
      </p:sp>
    </p:spTree>
    <p:extLst>
      <p:ext uri="{BB962C8B-B14F-4D97-AF65-F5344CB8AC3E}">
        <p14:creationId xmlns:p14="http://schemas.microsoft.com/office/powerpoint/2010/main" val="3706052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PH"/>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680B0E4-427A-4075-B038-053715C97BC1}" type="datetimeFigureOut">
              <a:rPr lang="en-PH" smtClean="0"/>
              <a:t>9/18/2013</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AC7F37F2-9C26-4656-A90E-D1C6E7F89D4C}" type="slidenum">
              <a:rPr lang="en-PH" smtClean="0"/>
              <a:t>‹#›</a:t>
            </a:fld>
            <a:endParaRPr lang="en-PH"/>
          </a:p>
        </p:txBody>
      </p:sp>
    </p:spTree>
    <p:extLst>
      <p:ext uri="{BB962C8B-B14F-4D97-AF65-F5344CB8AC3E}">
        <p14:creationId xmlns:p14="http://schemas.microsoft.com/office/powerpoint/2010/main" val="3129853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Date Placeholder 4"/>
          <p:cNvSpPr>
            <a:spLocks noGrp="1"/>
          </p:cNvSpPr>
          <p:nvPr>
            <p:ph type="dt" sz="half" idx="10"/>
          </p:nvPr>
        </p:nvSpPr>
        <p:spPr/>
        <p:txBody>
          <a:bodyPr/>
          <a:lstStyle/>
          <a:p>
            <a:fld id="{2680B0E4-427A-4075-B038-053715C97BC1}" type="datetimeFigureOut">
              <a:rPr lang="en-PH" smtClean="0"/>
              <a:t>9/18/2013</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AC7F37F2-9C26-4656-A90E-D1C6E7F89D4C}" type="slidenum">
              <a:rPr lang="en-PH" smtClean="0"/>
              <a:t>‹#›</a:t>
            </a:fld>
            <a:endParaRPr lang="en-PH"/>
          </a:p>
        </p:txBody>
      </p:sp>
    </p:spTree>
    <p:extLst>
      <p:ext uri="{BB962C8B-B14F-4D97-AF65-F5344CB8AC3E}">
        <p14:creationId xmlns:p14="http://schemas.microsoft.com/office/powerpoint/2010/main" val="3114832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PH"/>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7" name="Date Placeholder 6"/>
          <p:cNvSpPr>
            <a:spLocks noGrp="1"/>
          </p:cNvSpPr>
          <p:nvPr>
            <p:ph type="dt" sz="half" idx="10"/>
          </p:nvPr>
        </p:nvSpPr>
        <p:spPr/>
        <p:txBody>
          <a:bodyPr/>
          <a:lstStyle/>
          <a:p>
            <a:fld id="{2680B0E4-427A-4075-B038-053715C97BC1}" type="datetimeFigureOut">
              <a:rPr lang="en-PH" smtClean="0"/>
              <a:t>9/18/2013</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AC7F37F2-9C26-4656-A90E-D1C6E7F89D4C}" type="slidenum">
              <a:rPr lang="en-PH" smtClean="0"/>
              <a:t>‹#›</a:t>
            </a:fld>
            <a:endParaRPr lang="en-PH"/>
          </a:p>
        </p:txBody>
      </p:sp>
    </p:spTree>
    <p:extLst>
      <p:ext uri="{BB962C8B-B14F-4D97-AF65-F5344CB8AC3E}">
        <p14:creationId xmlns:p14="http://schemas.microsoft.com/office/powerpoint/2010/main" val="3854386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Date Placeholder 2"/>
          <p:cNvSpPr>
            <a:spLocks noGrp="1"/>
          </p:cNvSpPr>
          <p:nvPr>
            <p:ph type="dt" sz="half" idx="10"/>
          </p:nvPr>
        </p:nvSpPr>
        <p:spPr/>
        <p:txBody>
          <a:bodyPr/>
          <a:lstStyle/>
          <a:p>
            <a:fld id="{2680B0E4-427A-4075-B038-053715C97BC1}" type="datetimeFigureOut">
              <a:rPr lang="en-PH" smtClean="0"/>
              <a:t>9/18/2013</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AC7F37F2-9C26-4656-A90E-D1C6E7F89D4C}" type="slidenum">
              <a:rPr lang="en-PH" smtClean="0"/>
              <a:t>‹#›</a:t>
            </a:fld>
            <a:endParaRPr lang="en-PH"/>
          </a:p>
        </p:txBody>
      </p:sp>
    </p:spTree>
    <p:extLst>
      <p:ext uri="{BB962C8B-B14F-4D97-AF65-F5344CB8AC3E}">
        <p14:creationId xmlns:p14="http://schemas.microsoft.com/office/powerpoint/2010/main" val="3385521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80B0E4-427A-4075-B038-053715C97BC1}" type="datetimeFigureOut">
              <a:rPr lang="en-PH" smtClean="0"/>
              <a:t>9/18/2013</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AC7F37F2-9C26-4656-A90E-D1C6E7F89D4C}" type="slidenum">
              <a:rPr lang="en-PH" smtClean="0"/>
              <a:t>‹#›</a:t>
            </a:fld>
            <a:endParaRPr lang="en-PH"/>
          </a:p>
        </p:txBody>
      </p:sp>
    </p:spTree>
    <p:extLst>
      <p:ext uri="{BB962C8B-B14F-4D97-AF65-F5344CB8AC3E}">
        <p14:creationId xmlns:p14="http://schemas.microsoft.com/office/powerpoint/2010/main" val="2605305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PH"/>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680B0E4-427A-4075-B038-053715C97BC1}" type="datetimeFigureOut">
              <a:rPr lang="en-PH" smtClean="0"/>
              <a:t>9/18/2013</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AC7F37F2-9C26-4656-A90E-D1C6E7F89D4C}" type="slidenum">
              <a:rPr lang="en-PH" smtClean="0"/>
              <a:t>‹#›</a:t>
            </a:fld>
            <a:endParaRPr lang="en-PH"/>
          </a:p>
        </p:txBody>
      </p:sp>
    </p:spTree>
    <p:extLst>
      <p:ext uri="{BB962C8B-B14F-4D97-AF65-F5344CB8AC3E}">
        <p14:creationId xmlns:p14="http://schemas.microsoft.com/office/powerpoint/2010/main" val="389633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PH"/>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680B0E4-427A-4075-B038-053715C97BC1}" type="datetimeFigureOut">
              <a:rPr lang="en-PH" smtClean="0"/>
              <a:t>9/18/2013</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AC7F37F2-9C26-4656-A90E-D1C6E7F89D4C}" type="slidenum">
              <a:rPr lang="en-PH" smtClean="0"/>
              <a:t>‹#›</a:t>
            </a:fld>
            <a:endParaRPr lang="en-PH"/>
          </a:p>
        </p:txBody>
      </p:sp>
    </p:spTree>
    <p:extLst>
      <p:ext uri="{BB962C8B-B14F-4D97-AF65-F5344CB8AC3E}">
        <p14:creationId xmlns:p14="http://schemas.microsoft.com/office/powerpoint/2010/main" val="3225338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2680B0E4-427A-4075-B038-053715C97BC1}" type="datetimeFigureOut">
              <a:rPr lang="en-PH" smtClean="0"/>
              <a:t>9/18/2013</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AC7F37F2-9C26-4656-A90E-D1C6E7F89D4C}" type="slidenum">
              <a:rPr lang="en-PH" smtClean="0"/>
              <a:t>‹#›</a:t>
            </a:fld>
            <a:endParaRPr lang="en-PH"/>
          </a:p>
        </p:txBody>
      </p:sp>
    </p:spTree>
    <p:extLst>
      <p:ext uri="{BB962C8B-B14F-4D97-AF65-F5344CB8AC3E}">
        <p14:creationId xmlns:p14="http://schemas.microsoft.com/office/powerpoint/2010/main" val="3113223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PH"/>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2680B0E4-427A-4075-B038-053715C97BC1}" type="datetimeFigureOut">
              <a:rPr lang="en-PH" smtClean="0"/>
              <a:t>9/18/2013</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AC7F37F2-9C26-4656-A90E-D1C6E7F89D4C}" type="slidenum">
              <a:rPr lang="en-PH" smtClean="0"/>
              <a:t>‹#›</a:t>
            </a:fld>
            <a:endParaRPr lang="en-PH"/>
          </a:p>
        </p:txBody>
      </p:sp>
    </p:spTree>
    <p:extLst>
      <p:ext uri="{BB962C8B-B14F-4D97-AF65-F5344CB8AC3E}">
        <p14:creationId xmlns:p14="http://schemas.microsoft.com/office/powerpoint/2010/main" val="4205511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PH"/>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80B0E4-427A-4075-B038-053715C97BC1}" type="datetimeFigureOut">
              <a:rPr lang="en-PH" smtClean="0"/>
              <a:t>9/18/2013</a:t>
            </a:fld>
            <a:endParaRPr lang="en-PH"/>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7F37F2-9C26-4656-A90E-D1C6E7F89D4C}" type="slidenum">
              <a:rPr lang="en-PH" smtClean="0"/>
              <a:t>‹#›</a:t>
            </a:fld>
            <a:endParaRPr lang="en-PH"/>
          </a:p>
        </p:txBody>
      </p:sp>
    </p:spTree>
    <p:extLst>
      <p:ext uri="{BB962C8B-B14F-4D97-AF65-F5344CB8AC3E}">
        <p14:creationId xmlns:p14="http://schemas.microsoft.com/office/powerpoint/2010/main" val="3455584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439" t="9649" r="1229" b="14035"/>
          <a:stretch/>
        </p:blipFill>
        <p:spPr>
          <a:xfrm>
            <a:off x="144379" y="-12032"/>
            <a:ext cx="8891337" cy="5233737"/>
          </a:xfrm>
          <a:prstGeom prst="rect">
            <a:avLst/>
          </a:prstGeom>
        </p:spPr>
      </p:pic>
      <p:sp>
        <p:nvSpPr>
          <p:cNvPr id="2" name="Title 1"/>
          <p:cNvSpPr>
            <a:spLocks noGrp="1"/>
          </p:cNvSpPr>
          <p:nvPr>
            <p:ph type="ctrTitle"/>
          </p:nvPr>
        </p:nvSpPr>
        <p:spPr>
          <a:xfrm>
            <a:off x="0" y="3429000"/>
            <a:ext cx="9144000" cy="1924051"/>
          </a:xfrm>
          <a:solidFill>
            <a:schemeClr val="tx1">
              <a:alpha val="70000"/>
            </a:schemeClr>
          </a:solidFill>
        </p:spPr>
        <p:txBody>
          <a:bodyPr>
            <a:normAutofit/>
          </a:bodyPr>
          <a:lstStyle/>
          <a:p>
            <a:r>
              <a:rPr lang="en-PH" sz="2200" dirty="0" smtClean="0">
                <a:solidFill>
                  <a:schemeClr val="tx1">
                    <a:lumMod val="85000"/>
                    <a:lumOff val="15000"/>
                  </a:schemeClr>
                </a:solidFill>
                <a:effectLst>
                  <a:glow rad="101600">
                    <a:schemeClr val="bg1">
                      <a:lumMod val="95000"/>
                      <a:alpha val="60000"/>
                    </a:schemeClr>
                  </a:glow>
                </a:effectLst>
              </a:rPr>
              <a:t>An exploratory result</a:t>
            </a:r>
            <a:r>
              <a:rPr lang="en-PH" sz="2200" i="1" dirty="0" smtClean="0">
                <a:solidFill>
                  <a:schemeClr val="tx1">
                    <a:lumMod val="85000"/>
                    <a:lumOff val="15000"/>
                  </a:schemeClr>
                </a:solidFill>
                <a:effectLst>
                  <a:glow rad="101600">
                    <a:schemeClr val="bg1">
                      <a:lumMod val="95000"/>
                      <a:alpha val="60000"/>
                    </a:schemeClr>
                  </a:glow>
                </a:effectLst>
              </a:rPr>
              <a:t/>
            </a:r>
            <a:br>
              <a:rPr lang="en-PH" sz="2200" i="1" dirty="0" smtClean="0">
                <a:solidFill>
                  <a:schemeClr val="tx1">
                    <a:lumMod val="85000"/>
                    <a:lumOff val="15000"/>
                  </a:schemeClr>
                </a:solidFill>
                <a:effectLst>
                  <a:glow rad="101600">
                    <a:schemeClr val="bg1">
                      <a:lumMod val="95000"/>
                      <a:alpha val="60000"/>
                    </a:schemeClr>
                  </a:glow>
                </a:effectLst>
              </a:rPr>
            </a:br>
            <a:r>
              <a:rPr lang="en-PH" sz="4000" b="1" dirty="0" smtClean="0">
                <a:solidFill>
                  <a:schemeClr val="bg1"/>
                </a:solidFill>
                <a:effectLst>
                  <a:glow rad="101600">
                    <a:schemeClr val="bg2">
                      <a:lumMod val="25000"/>
                      <a:alpha val="60000"/>
                    </a:schemeClr>
                  </a:glow>
                </a:effectLst>
              </a:rPr>
              <a:t>Estimating Barangay Poverty Incidence </a:t>
            </a:r>
            <a:br>
              <a:rPr lang="en-PH" sz="4000" b="1" dirty="0" smtClean="0">
                <a:solidFill>
                  <a:schemeClr val="bg1"/>
                </a:solidFill>
                <a:effectLst>
                  <a:glow rad="101600">
                    <a:schemeClr val="bg2">
                      <a:lumMod val="25000"/>
                      <a:alpha val="60000"/>
                    </a:schemeClr>
                  </a:glow>
                </a:effectLst>
              </a:rPr>
            </a:br>
            <a:r>
              <a:rPr lang="en-PH" sz="4000" b="1" dirty="0" smtClean="0">
                <a:solidFill>
                  <a:schemeClr val="bg1"/>
                </a:solidFill>
                <a:effectLst>
                  <a:glow rad="101600">
                    <a:schemeClr val="bg2">
                      <a:lumMod val="25000"/>
                      <a:alpha val="60000"/>
                    </a:schemeClr>
                  </a:glow>
                </a:effectLst>
              </a:rPr>
              <a:t>through </a:t>
            </a:r>
            <a:r>
              <a:rPr lang="en-PH" sz="4000" b="1" dirty="0" err="1" smtClean="0">
                <a:solidFill>
                  <a:schemeClr val="bg1"/>
                </a:solidFill>
                <a:effectLst>
                  <a:glow rad="101600">
                    <a:schemeClr val="bg2">
                      <a:lumMod val="25000"/>
                      <a:alpha val="60000"/>
                    </a:schemeClr>
                  </a:glow>
                </a:effectLst>
              </a:rPr>
              <a:t>Geostatistics</a:t>
            </a:r>
            <a:endParaRPr lang="en-PH" sz="4000" b="1" dirty="0">
              <a:solidFill>
                <a:schemeClr val="bg1"/>
              </a:solidFill>
              <a:effectLst>
                <a:glow rad="101600">
                  <a:schemeClr val="bg2">
                    <a:lumMod val="25000"/>
                    <a:alpha val="60000"/>
                  </a:schemeClr>
                </a:glow>
              </a:effectLst>
            </a:endParaRPr>
          </a:p>
        </p:txBody>
      </p:sp>
      <p:sp>
        <p:nvSpPr>
          <p:cNvPr id="3" name="Subtitle 2"/>
          <p:cNvSpPr>
            <a:spLocks noGrp="1"/>
          </p:cNvSpPr>
          <p:nvPr>
            <p:ph type="subTitle" idx="1"/>
          </p:nvPr>
        </p:nvSpPr>
        <p:spPr>
          <a:xfrm>
            <a:off x="1371600" y="5429251"/>
            <a:ext cx="6400800" cy="1219200"/>
          </a:xfrm>
        </p:spPr>
        <p:txBody>
          <a:bodyPr>
            <a:normAutofit/>
          </a:bodyPr>
          <a:lstStyle/>
          <a:p>
            <a:r>
              <a:rPr lang="en-PH" b="1" dirty="0" smtClean="0">
                <a:solidFill>
                  <a:schemeClr val="tx1">
                    <a:lumMod val="85000"/>
                    <a:lumOff val="15000"/>
                  </a:schemeClr>
                </a:solidFill>
                <a:effectLst>
                  <a:glow rad="101600">
                    <a:schemeClr val="bg1">
                      <a:lumMod val="95000"/>
                      <a:alpha val="60000"/>
                    </a:schemeClr>
                  </a:glow>
                </a:effectLst>
              </a:rPr>
              <a:t>National Anti-Poverty Commission</a:t>
            </a:r>
          </a:p>
          <a:p>
            <a:r>
              <a:rPr lang="en-PH" sz="1800" dirty="0" smtClean="0">
                <a:solidFill>
                  <a:schemeClr val="tx1">
                    <a:lumMod val="85000"/>
                    <a:lumOff val="15000"/>
                  </a:schemeClr>
                </a:solidFill>
                <a:effectLst>
                  <a:glow rad="101600">
                    <a:schemeClr val="bg1">
                      <a:lumMod val="95000"/>
                      <a:alpha val="60000"/>
                    </a:schemeClr>
                  </a:glow>
                </a:effectLst>
              </a:rPr>
              <a:t>Policy Monitoring and Social Technology Service (PMSTS) Unit</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4669" y="5429251"/>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9731615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b="1" dirty="0" smtClean="0"/>
              <a:t>Small Area Estimates of </a:t>
            </a:r>
            <a:br>
              <a:rPr lang="en-PH" b="1" dirty="0" smtClean="0"/>
            </a:br>
            <a:r>
              <a:rPr lang="en-PH" b="1" dirty="0" smtClean="0"/>
              <a:t>Poverty Indicators</a:t>
            </a:r>
            <a:endParaRPr lang="en-PH" b="1" dirty="0"/>
          </a:p>
        </p:txBody>
      </p:sp>
      <p:sp>
        <p:nvSpPr>
          <p:cNvPr id="3" name="Content Placeholder 2"/>
          <p:cNvSpPr>
            <a:spLocks noGrp="1"/>
          </p:cNvSpPr>
          <p:nvPr>
            <p:ph idx="1"/>
          </p:nvPr>
        </p:nvSpPr>
        <p:spPr/>
        <p:txBody>
          <a:bodyPr>
            <a:normAutofit fontScale="92500" lnSpcReduction="10000"/>
          </a:bodyPr>
          <a:lstStyle/>
          <a:p>
            <a:r>
              <a:rPr lang="en-PH" dirty="0" smtClean="0"/>
              <a:t>What we have so far are 2009 </a:t>
            </a:r>
            <a:r>
              <a:rPr lang="en-PH" dirty="0" err="1" smtClean="0"/>
              <a:t>Intercensal</a:t>
            </a:r>
            <a:r>
              <a:rPr lang="en-PH" dirty="0" smtClean="0"/>
              <a:t> Small Area Estimates of Poverty Indicators (poverty incidence, poverty gap, and poverty severity) produced by the NSCB from:</a:t>
            </a:r>
          </a:p>
          <a:p>
            <a:pPr lvl="1"/>
            <a:r>
              <a:rPr lang="en-PH" dirty="0" smtClean="0"/>
              <a:t>2009 Official Poverty Incidence</a:t>
            </a:r>
          </a:p>
          <a:p>
            <a:pPr lvl="1"/>
            <a:r>
              <a:rPr lang="en-PH" dirty="0" smtClean="0"/>
              <a:t>Time invariant variables from the latest Family Income and Expenditure Survey (FIES), </a:t>
            </a:r>
            <a:r>
              <a:rPr lang="en-PH" dirty="0" err="1" smtClean="0"/>
              <a:t>Labor</a:t>
            </a:r>
            <a:r>
              <a:rPr lang="en-PH" dirty="0" smtClean="0"/>
              <a:t> Force Survey (LFS), and Census of Population and Housing (CPH)</a:t>
            </a:r>
          </a:p>
          <a:p>
            <a:r>
              <a:rPr lang="en-PH" dirty="0" smtClean="0"/>
              <a:t>SAE methodology employed made use of the </a:t>
            </a:r>
            <a:r>
              <a:rPr lang="en-PH" dirty="0" err="1" smtClean="0"/>
              <a:t>Elbers</a:t>
            </a:r>
            <a:r>
              <a:rPr lang="en-PH" dirty="0" smtClean="0"/>
              <a:t>, </a:t>
            </a:r>
            <a:r>
              <a:rPr lang="en-PH" dirty="0" err="1" smtClean="0"/>
              <a:t>Lanjouw</a:t>
            </a:r>
            <a:r>
              <a:rPr lang="en-PH" dirty="0" smtClean="0"/>
              <a:t>, and </a:t>
            </a:r>
            <a:r>
              <a:rPr lang="en-PH" dirty="0" err="1" smtClean="0"/>
              <a:t>Lanjouw</a:t>
            </a:r>
            <a:r>
              <a:rPr lang="en-PH" dirty="0" smtClean="0"/>
              <a:t> (ELL) methodology</a:t>
            </a:r>
            <a:endParaRPr lang="en-PH" dirty="0"/>
          </a:p>
        </p:txBody>
      </p:sp>
    </p:spTree>
    <p:extLst>
      <p:ext uri="{BB962C8B-B14F-4D97-AF65-F5344CB8AC3E}">
        <p14:creationId xmlns:p14="http://schemas.microsoft.com/office/powerpoint/2010/main" val="1781512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Geographic Distance and SAE</a:t>
            </a:r>
            <a:endParaRPr lang="en-PH" b="1" dirty="0"/>
          </a:p>
        </p:txBody>
      </p:sp>
      <p:sp>
        <p:nvSpPr>
          <p:cNvPr id="3" name="Content Placeholder 2"/>
          <p:cNvSpPr>
            <a:spLocks noGrp="1"/>
          </p:cNvSpPr>
          <p:nvPr>
            <p:ph idx="1"/>
          </p:nvPr>
        </p:nvSpPr>
        <p:spPr/>
        <p:txBody>
          <a:bodyPr>
            <a:normAutofit fontScale="92500"/>
          </a:bodyPr>
          <a:lstStyle/>
          <a:p>
            <a:r>
              <a:rPr lang="en-PH" dirty="0" smtClean="0"/>
              <a:t>Let’s assume that the SAE already reasonably takes into account time invariant variables.</a:t>
            </a:r>
          </a:p>
          <a:p>
            <a:r>
              <a:rPr lang="en-PH" dirty="0" smtClean="0"/>
              <a:t>We can hypothesize that further differentiation can already be attributed to geographic distance.</a:t>
            </a:r>
          </a:p>
          <a:p>
            <a:pPr lvl="1"/>
            <a:r>
              <a:rPr lang="en-PH" dirty="0" smtClean="0"/>
              <a:t>As shown by PMSTS in an earlier Spatial </a:t>
            </a:r>
            <a:r>
              <a:rPr lang="en-PH" dirty="0" err="1" smtClean="0"/>
              <a:t>Autoregression</a:t>
            </a:r>
            <a:r>
              <a:rPr lang="en-PH" dirty="0" smtClean="0"/>
              <a:t> (SAR) Study, poverty at the municipal level is significantly spatially </a:t>
            </a:r>
            <a:r>
              <a:rPr lang="en-PH" dirty="0" err="1" smtClean="0"/>
              <a:t>autocorrelated</a:t>
            </a:r>
            <a:endParaRPr lang="en-PH" dirty="0" smtClean="0"/>
          </a:p>
          <a:p>
            <a:pPr lvl="1"/>
            <a:r>
              <a:rPr lang="en-PH" dirty="0" smtClean="0"/>
              <a:t>Similar results had been produced by the 2012/13 Philippine Human Development Result (PHDR)</a:t>
            </a:r>
            <a:endParaRPr lang="en-PH" dirty="0"/>
          </a:p>
        </p:txBody>
      </p:sp>
    </p:spTree>
    <p:extLst>
      <p:ext uri="{BB962C8B-B14F-4D97-AF65-F5344CB8AC3E}">
        <p14:creationId xmlns:p14="http://schemas.microsoft.com/office/powerpoint/2010/main" val="996915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Assuming Poverty Clustering</a:t>
            </a:r>
            <a:endParaRPr lang="en-PH" b="1" dirty="0"/>
          </a:p>
        </p:txBody>
      </p:sp>
      <p:sp>
        <p:nvSpPr>
          <p:cNvPr id="3" name="Content Placeholder 2"/>
          <p:cNvSpPr>
            <a:spLocks noGrp="1"/>
          </p:cNvSpPr>
          <p:nvPr>
            <p:ph idx="1"/>
          </p:nvPr>
        </p:nvSpPr>
        <p:spPr/>
        <p:txBody>
          <a:bodyPr>
            <a:normAutofit fontScale="85000" lnSpcReduction="20000"/>
          </a:bodyPr>
          <a:lstStyle/>
          <a:p>
            <a:r>
              <a:rPr lang="en-PH" dirty="0" smtClean="0"/>
              <a:t>There are various ways to test this, but the best one may be to conduct a spatial </a:t>
            </a:r>
            <a:r>
              <a:rPr lang="en-PH" dirty="0" err="1" smtClean="0"/>
              <a:t>autoregression</a:t>
            </a:r>
            <a:r>
              <a:rPr lang="en-PH" dirty="0" smtClean="0"/>
              <a:t> analysis on actual poverty counts.</a:t>
            </a:r>
          </a:p>
          <a:p>
            <a:pPr lvl="1"/>
            <a:r>
              <a:rPr lang="en-PH" dirty="0" smtClean="0"/>
              <a:t>But if we have this, no need for SAE to begin with.</a:t>
            </a:r>
          </a:p>
          <a:p>
            <a:pPr lvl="1"/>
            <a:r>
              <a:rPr lang="en-PH" dirty="0" smtClean="0"/>
              <a:t>We can do it through NHTS-PR, but it is not full census and may skew the results</a:t>
            </a:r>
          </a:p>
          <a:p>
            <a:pPr lvl="1"/>
            <a:r>
              <a:rPr lang="en-PH" dirty="0" smtClean="0"/>
              <a:t>We can do it through </a:t>
            </a:r>
            <a:r>
              <a:rPr lang="en-PH" dirty="0" err="1" smtClean="0"/>
              <a:t>geomatics</a:t>
            </a:r>
            <a:r>
              <a:rPr lang="en-PH" dirty="0" smtClean="0"/>
              <a:t>, but existing poverty morphologies in the Philippines are limited to urban areas (the Manila Observatory).</a:t>
            </a:r>
          </a:p>
          <a:p>
            <a:r>
              <a:rPr lang="en-PH" dirty="0" smtClean="0"/>
              <a:t>Approach: Assume for the moment that it is true. Besides, there are various microeconomic </a:t>
            </a:r>
            <a:r>
              <a:rPr lang="en-PH" i="1" dirty="0" smtClean="0"/>
              <a:t>a priori </a:t>
            </a:r>
            <a:r>
              <a:rPr lang="en-PH" dirty="0" smtClean="0"/>
              <a:t>models that predict “poverty clustering” (income sorting urban economics models)</a:t>
            </a:r>
            <a:endParaRPr lang="en-PH" dirty="0"/>
          </a:p>
        </p:txBody>
      </p:sp>
    </p:spTree>
    <p:extLst>
      <p:ext uri="{BB962C8B-B14F-4D97-AF65-F5344CB8AC3E}">
        <p14:creationId xmlns:p14="http://schemas.microsoft.com/office/powerpoint/2010/main" val="1708352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Zooming in on the SAE</a:t>
            </a:r>
            <a:endParaRPr lang="en-PH" dirty="0"/>
          </a:p>
        </p:txBody>
      </p:sp>
      <p:sp>
        <p:nvSpPr>
          <p:cNvPr id="3" name="Content Placeholder 2"/>
          <p:cNvSpPr>
            <a:spLocks noGrp="1"/>
          </p:cNvSpPr>
          <p:nvPr>
            <p:ph idx="1"/>
          </p:nvPr>
        </p:nvSpPr>
        <p:spPr/>
        <p:txBody>
          <a:bodyPr>
            <a:normAutofit fontScale="92500" lnSpcReduction="10000"/>
          </a:bodyPr>
          <a:lstStyle/>
          <a:p>
            <a:r>
              <a:rPr lang="en-PH" dirty="0" smtClean="0"/>
              <a:t>Assuming that poverty at an even smaller level is determined primarily by geography, we already have several tools to estimate lower levels, say, zooming in from Municipal-level SAE to Barangay level poverty estimates.</a:t>
            </a:r>
          </a:p>
          <a:p>
            <a:r>
              <a:rPr lang="en-PH" dirty="0" smtClean="0"/>
              <a:t>Tools from </a:t>
            </a:r>
            <a:r>
              <a:rPr lang="en-PH" dirty="0" err="1" smtClean="0"/>
              <a:t>Geostatistics</a:t>
            </a:r>
            <a:r>
              <a:rPr lang="en-PH" dirty="0"/>
              <a:t> </a:t>
            </a:r>
            <a:r>
              <a:rPr lang="en-PH" dirty="0" smtClean="0"/>
              <a:t>(</a:t>
            </a:r>
            <a:r>
              <a:rPr lang="en-PH" dirty="0" err="1" smtClean="0"/>
              <a:t>Kriging</a:t>
            </a:r>
            <a:r>
              <a:rPr lang="en-PH" dirty="0" smtClean="0"/>
              <a:t>, </a:t>
            </a:r>
            <a:r>
              <a:rPr lang="en-PH" dirty="0" err="1" smtClean="0"/>
              <a:t>Semivariogram</a:t>
            </a:r>
            <a:r>
              <a:rPr lang="en-PH" dirty="0" smtClean="0"/>
              <a:t>, </a:t>
            </a:r>
            <a:r>
              <a:rPr lang="en-PH" dirty="0" err="1" smtClean="0"/>
              <a:t>Semivariance</a:t>
            </a:r>
            <a:r>
              <a:rPr lang="en-PH" dirty="0" smtClean="0"/>
              <a:t>) – to be explained later</a:t>
            </a:r>
          </a:p>
          <a:p>
            <a:r>
              <a:rPr lang="en-PH" dirty="0" smtClean="0"/>
              <a:t>The only requirement would be to do it in reasonably contiguous areas (say, at the provincial level).</a:t>
            </a:r>
            <a:endParaRPr lang="en-PH" dirty="0"/>
          </a:p>
        </p:txBody>
      </p:sp>
    </p:spTree>
    <p:extLst>
      <p:ext uri="{BB962C8B-B14F-4D97-AF65-F5344CB8AC3E}">
        <p14:creationId xmlns:p14="http://schemas.microsoft.com/office/powerpoint/2010/main" val="3548211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Test Case: Cavite Province</a:t>
            </a:r>
            <a:endParaRPr lang="en-PH" b="1" dirty="0"/>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t="10550" b="13836"/>
          <a:stretch/>
        </p:blipFill>
        <p:spPr>
          <a:xfrm>
            <a:off x="1447799" y="1219200"/>
            <a:ext cx="5878539" cy="5334000"/>
          </a:xfrm>
          <a:prstGeom prst="rect">
            <a:avLst/>
          </a:prstGeom>
        </p:spPr>
      </p:pic>
    </p:spTree>
    <p:extLst>
      <p:ext uri="{BB962C8B-B14F-4D97-AF65-F5344CB8AC3E}">
        <p14:creationId xmlns:p14="http://schemas.microsoft.com/office/powerpoint/2010/main" val="40661215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From Shape to Point Data</a:t>
            </a:r>
            <a:endParaRPr lang="en-PH" b="1" dirty="0"/>
          </a:p>
        </p:txBody>
      </p:sp>
      <p:sp>
        <p:nvSpPr>
          <p:cNvPr id="3" name="Content Placeholder 2"/>
          <p:cNvSpPr>
            <a:spLocks noGrp="1"/>
          </p:cNvSpPr>
          <p:nvPr>
            <p:ph idx="1"/>
          </p:nvPr>
        </p:nvSpPr>
        <p:spPr/>
        <p:txBody>
          <a:bodyPr/>
          <a:lstStyle/>
          <a:p>
            <a:r>
              <a:rPr lang="en-PH" dirty="0" smtClean="0"/>
              <a:t>We can suppose that these municipal level estimates are taken from the centroids of the municipalities .</a:t>
            </a:r>
          </a:p>
          <a:p>
            <a:pPr lvl="1"/>
            <a:r>
              <a:rPr lang="en-PH" dirty="0" smtClean="0"/>
              <a:t>We can adjust it later to centroids of the most populous barangay of municipalities, or other metrics.</a:t>
            </a:r>
          </a:p>
          <a:p>
            <a:r>
              <a:rPr lang="en-PH" dirty="0" smtClean="0"/>
              <a:t>The problem then becomes, how does the Poverty Incidence move as we closer/away from these various points?</a:t>
            </a:r>
            <a:endParaRPr lang="en-PH" dirty="0"/>
          </a:p>
        </p:txBody>
      </p:sp>
    </p:spTree>
    <p:extLst>
      <p:ext uri="{BB962C8B-B14F-4D97-AF65-F5344CB8AC3E}">
        <p14:creationId xmlns:p14="http://schemas.microsoft.com/office/powerpoint/2010/main" val="2980969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3287" t="11464" r="-1" b="12296"/>
          <a:stretch/>
        </p:blipFill>
        <p:spPr>
          <a:xfrm>
            <a:off x="0" y="1219200"/>
            <a:ext cx="5453418" cy="5158855"/>
          </a:xfrm>
        </p:spPr>
      </p:pic>
      <p:sp>
        <p:nvSpPr>
          <p:cNvPr id="2" name="Title 1"/>
          <p:cNvSpPr>
            <a:spLocks noGrp="1"/>
          </p:cNvSpPr>
          <p:nvPr>
            <p:ph type="title"/>
          </p:nvPr>
        </p:nvSpPr>
        <p:spPr/>
        <p:txBody>
          <a:bodyPr/>
          <a:lstStyle/>
          <a:p>
            <a:r>
              <a:rPr lang="en-PH" b="1" dirty="0" smtClean="0"/>
              <a:t>From Shape to Point Data</a:t>
            </a:r>
            <a:endParaRPr lang="en-PH" dirty="0"/>
          </a:p>
        </p:txBody>
      </p:sp>
      <p:sp>
        <p:nvSpPr>
          <p:cNvPr id="7" name="TextBox 6"/>
          <p:cNvSpPr txBox="1"/>
          <p:nvPr/>
        </p:nvSpPr>
        <p:spPr>
          <a:xfrm>
            <a:off x="4339988" y="5950803"/>
            <a:ext cx="4237630" cy="830997"/>
          </a:xfrm>
          <a:prstGeom prst="rect">
            <a:avLst/>
          </a:prstGeom>
          <a:noFill/>
        </p:spPr>
        <p:txBody>
          <a:bodyPr wrap="square" rtlCol="0">
            <a:spAutoFit/>
          </a:bodyPr>
          <a:lstStyle/>
          <a:p>
            <a:r>
              <a:rPr lang="en-PH" sz="2400" b="1" i="1" dirty="0" smtClean="0"/>
              <a:t>Note</a:t>
            </a:r>
            <a:r>
              <a:rPr lang="en-PH" sz="2400" i="1" dirty="0" smtClean="0"/>
              <a:t>: Size of the Circle reflects poverty incidence</a:t>
            </a:r>
            <a:endParaRPr lang="en-PH" sz="2400" i="1" dirty="0"/>
          </a:p>
        </p:txBody>
      </p:sp>
      <p:sp>
        <p:nvSpPr>
          <p:cNvPr id="8" name="TextBox 7"/>
          <p:cNvSpPr txBox="1"/>
          <p:nvPr/>
        </p:nvSpPr>
        <p:spPr>
          <a:xfrm>
            <a:off x="5846929" y="1447800"/>
            <a:ext cx="2514600" cy="1569660"/>
          </a:xfrm>
          <a:prstGeom prst="rect">
            <a:avLst/>
          </a:prstGeom>
          <a:noFill/>
        </p:spPr>
        <p:txBody>
          <a:bodyPr wrap="square" rtlCol="0">
            <a:spAutoFit/>
          </a:bodyPr>
          <a:lstStyle/>
          <a:p>
            <a:r>
              <a:rPr lang="en-PH" sz="2400" b="1" dirty="0" smtClean="0"/>
              <a:t>Question</a:t>
            </a:r>
            <a:r>
              <a:rPr lang="en-PH" sz="2400" dirty="0" smtClean="0"/>
              <a:t>: What is the poverty incidence at the other points?</a:t>
            </a:r>
            <a:endParaRPr lang="en-PH" sz="2400" dirty="0"/>
          </a:p>
        </p:txBody>
      </p:sp>
      <p:cxnSp>
        <p:nvCxnSpPr>
          <p:cNvPr id="10" name="Straight Arrow Connector 9"/>
          <p:cNvCxnSpPr/>
          <p:nvPr/>
        </p:nvCxnSpPr>
        <p:spPr>
          <a:xfrm flipH="1">
            <a:off x="3319818" y="1981200"/>
            <a:ext cx="2527111"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1"/>
          </p:cNvCxnSpPr>
          <p:nvPr/>
        </p:nvCxnSpPr>
        <p:spPr>
          <a:xfrm flipH="1">
            <a:off x="3777018" y="2232630"/>
            <a:ext cx="2069911" cy="16535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3548418" y="2819400"/>
            <a:ext cx="2332630" cy="228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453418" y="3429000"/>
            <a:ext cx="3614382" cy="2246769"/>
          </a:xfrm>
          <a:prstGeom prst="rect">
            <a:avLst/>
          </a:prstGeom>
          <a:noFill/>
        </p:spPr>
        <p:txBody>
          <a:bodyPr wrap="square" rtlCol="0">
            <a:spAutoFit/>
          </a:bodyPr>
          <a:lstStyle/>
          <a:p>
            <a:r>
              <a:rPr lang="en-PH" sz="2000" dirty="0" smtClean="0"/>
              <a:t>Naturally, we can assume that areas closer to the points with higher poverty incidence to have high poverty also. The similarity to the point decreases (variance increases) the farther you are from the point.</a:t>
            </a:r>
            <a:endParaRPr lang="en-PH" sz="2000" dirty="0"/>
          </a:p>
        </p:txBody>
      </p:sp>
    </p:spTree>
    <p:extLst>
      <p:ext uri="{BB962C8B-B14F-4D97-AF65-F5344CB8AC3E}">
        <p14:creationId xmlns:p14="http://schemas.microsoft.com/office/powerpoint/2010/main" val="3407257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H-Scatterplot of Poverty Incidence</a:t>
            </a:r>
            <a:endParaRPr lang="en-PH" b="1"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8437" y="1676400"/>
            <a:ext cx="8534400" cy="4267200"/>
          </a:xfrm>
        </p:spPr>
      </p:pic>
    </p:spTree>
    <p:extLst>
      <p:ext uri="{BB962C8B-B14F-4D97-AF65-F5344CB8AC3E}">
        <p14:creationId xmlns:p14="http://schemas.microsoft.com/office/powerpoint/2010/main" val="4101586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err="1" smtClean="0"/>
              <a:t>Geostatistics</a:t>
            </a:r>
            <a:endParaRPr lang="en-PH" b="1" dirty="0"/>
          </a:p>
        </p:txBody>
      </p:sp>
      <p:sp>
        <p:nvSpPr>
          <p:cNvPr id="3" name="Content Placeholder 2"/>
          <p:cNvSpPr>
            <a:spLocks noGrp="1"/>
          </p:cNvSpPr>
          <p:nvPr>
            <p:ph idx="1"/>
          </p:nvPr>
        </p:nvSpPr>
        <p:spPr/>
        <p:txBody>
          <a:bodyPr>
            <a:normAutofit fontScale="92500" lnSpcReduction="10000"/>
          </a:bodyPr>
          <a:lstStyle/>
          <a:p>
            <a:r>
              <a:rPr lang="en-PH" dirty="0" smtClean="0"/>
              <a:t>The value of the rest of the points can be estimated through </a:t>
            </a:r>
            <a:r>
              <a:rPr lang="en-PH" dirty="0" err="1" smtClean="0"/>
              <a:t>geostatistics</a:t>
            </a:r>
            <a:r>
              <a:rPr lang="en-PH" dirty="0" smtClean="0"/>
              <a:t>.</a:t>
            </a:r>
          </a:p>
          <a:p>
            <a:pPr lvl="1"/>
            <a:r>
              <a:rPr lang="en-PH" dirty="0" err="1" smtClean="0"/>
              <a:t>Semivariogram</a:t>
            </a:r>
            <a:r>
              <a:rPr lang="en-PH" dirty="0" smtClean="0"/>
              <a:t> Analysis and </a:t>
            </a:r>
            <a:r>
              <a:rPr lang="en-PH" dirty="0" err="1" smtClean="0"/>
              <a:t>Kriging</a:t>
            </a:r>
            <a:endParaRPr lang="en-PH" dirty="0" smtClean="0"/>
          </a:p>
          <a:p>
            <a:pPr lvl="1"/>
            <a:r>
              <a:rPr lang="en-PH" dirty="0" smtClean="0"/>
              <a:t>First known applications are in the mining industry.</a:t>
            </a:r>
          </a:p>
          <a:p>
            <a:r>
              <a:rPr lang="en-PH" b="1" dirty="0" err="1" smtClean="0"/>
              <a:t>Semivariogram</a:t>
            </a:r>
            <a:r>
              <a:rPr lang="en-PH" dirty="0" smtClean="0"/>
              <a:t> – A graph of the variance vs. the distance, shows how the variance moves as one moves away from a point.</a:t>
            </a:r>
          </a:p>
          <a:p>
            <a:r>
              <a:rPr lang="en-PH" b="1" dirty="0" err="1" smtClean="0"/>
              <a:t>Kriging</a:t>
            </a:r>
            <a:r>
              <a:rPr lang="en-PH" dirty="0" smtClean="0"/>
              <a:t> – Fits a model curve to the </a:t>
            </a:r>
            <a:r>
              <a:rPr lang="en-PH" dirty="0" err="1" smtClean="0"/>
              <a:t>semivariogram</a:t>
            </a:r>
            <a:r>
              <a:rPr lang="en-PH" dirty="0" smtClean="0"/>
              <a:t> and predicts the values at the rest of the points in the map using the model curve.</a:t>
            </a:r>
          </a:p>
        </p:txBody>
      </p:sp>
    </p:spTree>
    <p:extLst>
      <p:ext uri="{BB962C8B-B14F-4D97-AF65-F5344CB8AC3E}">
        <p14:creationId xmlns:p14="http://schemas.microsoft.com/office/powerpoint/2010/main" val="2149809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Steps in </a:t>
            </a:r>
            <a:r>
              <a:rPr lang="en-PH" b="1" dirty="0" err="1" smtClean="0"/>
              <a:t>Kriging</a:t>
            </a:r>
            <a:endParaRPr lang="en-PH" b="1" dirty="0"/>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pPr marL="514350" indent="-514350">
              <a:buFont typeface="+mj-lt"/>
              <a:buAutoNum type="arabicPeriod"/>
            </a:pPr>
            <a:r>
              <a:rPr lang="en-PH" dirty="0" smtClean="0"/>
              <a:t>Compute the semi-variance and generate the semi-</a:t>
            </a:r>
            <a:r>
              <a:rPr lang="en-PH" dirty="0" err="1" smtClean="0"/>
              <a:t>variogram</a:t>
            </a:r>
            <a:r>
              <a:rPr lang="en-PH" dirty="0" smtClean="0"/>
              <a:t>.</a:t>
            </a:r>
          </a:p>
          <a:p>
            <a:pPr marL="514350" indent="-514350">
              <a:buFont typeface="+mj-lt"/>
              <a:buAutoNum type="arabicPeriod"/>
            </a:pPr>
            <a:r>
              <a:rPr lang="en-PH" dirty="0" smtClean="0"/>
              <a:t>Fit the experimental </a:t>
            </a:r>
            <a:r>
              <a:rPr lang="en-PH" dirty="0" err="1" smtClean="0"/>
              <a:t>variogram</a:t>
            </a:r>
            <a:r>
              <a:rPr lang="en-PH" dirty="0" smtClean="0"/>
              <a:t> to the selected </a:t>
            </a:r>
            <a:r>
              <a:rPr lang="en-PH" dirty="0" err="1" smtClean="0"/>
              <a:t>variogram</a:t>
            </a:r>
            <a:r>
              <a:rPr lang="en-PH" dirty="0" smtClean="0"/>
              <a:t> model (nugget, spherical, exponential, Gaussian, power, etc.).</a:t>
            </a:r>
          </a:p>
          <a:p>
            <a:pPr marL="514350" indent="-514350">
              <a:buFont typeface="+mj-lt"/>
              <a:buAutoNum type="arabicPeriod"/>
            </a:pPr>
            <a:r>
              <a:rPr lang="en-PH" dirty="0" smtClean="0"/>
              <a:t>Estimate </a:t>
            </a:r>
            <a:r>
              <a:rPr lang="en-PH" dirty="0" err="1" smtClean="0"/>
              <a:t>Kriging</a:t>
            </a:r>
            <a:r>
              <a:rPr lang="en-PH" dirty="0" smtClean="0"/>
              <a:t> weights at unknown location within some neighbourhood. To do this, one can solve the </a:t>
            </a:r>
            <a:r>
              <a:rPr lang="en-PH" dirty="0" err="1" smtClean="0"/>
              <a:t>Kriging</a:t>
            </a:r>
            <a:r>
              <a:rPr lang="en-PH" dirty="0" smtClean="0"/>
              <a:t> equation (simple, ordinary, </a:t>
            </a:r>
            <a:r>
              <a:rPr lang="en-PH" dirty="0" err="1" smtClean="0"/>
              <a:t>kriging</a:t>
            </a:r>
            <a:r>
              <a:rPr lang="en-PH" dirty="0" smtClean="0"/>
              <a:t> with a trend, etc.) to find the weights (that make the </a:t>
            </a:r>
            <a:r>
              <a:rPr lang="en-PH" dirty="0" err="1" smtClean="0"/>
              <a:t>Kriging</a:t>
            </a:r>
            <a:r>
              <a:rPr lang="en-PH" dirty="0" smtClean="0"/>
              <a:t> estimator UMVUE).</a:t>
            </a:r>
            <a:endParaRPr lang="en-PH" i="1" dirty="0" smtClean="0"/>
          </a:p>
          <a:p>
            <a:r>
              <a:rPr lang="en-PH" i="1" dirty="0" smtClean="0"/>
              <a:t>We will all be doing this through R [see attached R code and .</a:t>
            </a:r>
            <a:r>
              <a:rPr lang="en-PH" i="1" dirty="0" err="1" smtClean="0"/>
              <a:t>RData</a:t>
            </a:r>
            <a:r>
              <a:rPr lang="en-PH" i="1" dirty="0" smtClean="0"/>
              <a:t>].</a:t>
            </a:r>
          </a:p>
        </p:txBody>
      </p:sp>
    </p:spTree>
    <p:extLst>
      <p:ext uri="{BB962C8B-B14F-4D97-AF65-F5344CB8AC3E}">
        <p14:creationId xmlns:p14="http://schemas.microsoft.com/office/powerpoint/2010/main" val="578781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err="1" smtClean="0"/>
              <a:t>Semivariance</a:t>
            </a:r>
            <a:endParaRPr lang="en-PH" b="1"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PH" dirty="0"/>
                  <a:t> </a:t>
                </a:r>
                <a14:m>
                  <m:oMath xmlns:m="http://schemas.openxmlformats.org/officeDocument/2006/math">
                    <m:r>
                      <a:rPr lang="en-PH" i="1"/>
                      <m:t>𝛾</m:t>
                    </m:r>
                    <m:d>
                      <m:dPr>
                        <m:ctrlPr>
                          <a:rPr lang="en-PH" i="1"/>
                        </m:ctrlPr>
                      </m:dPr>
                      <m:e>
                        <m:r>
                          <a:rPr lang="en-PH" i="1"/>
                          <m:t>h</m:t>
                        </m:r>
                      </m:e>
                    </m:d>
                    <m:r>
                      <a:rPr lang="en-PH" i="1"/>
                      <m:t>=</m:t>
                    </m:r>
                    <m:f>
                      <m:fPr>
                        <m:ctrlPr>
                          <a:rPr lang="en-PH" i="1"/>
                        </m:ctrlPr>
                      </m:fPr>
                      <m:num>
                        <m:r>
                          <a:rPr lang="en-PH" i="1"/>
                          <m:t>1</m:t>
                        </m:r>
                      </m:num>
                      <m:den>
                        <m:r>
                          <a:rPr lang="en-PH" i="1"/>
                          <m:t>2</m:t>
                        </m:r>
                        <m:r>
                          <a:rPr lang="en-PH" i="1"/>
                          <m:t>𝑁</m:t>
                        </m:r>
                        <m:r>
                          <a:rPr lang="en-PH" i="1"/>
                          <m:t>(</m:t>
                        </m:r>
                        <m:r>
                          <a:rPr lang="en-PH" i="1"/>
                          <m:t>h</m:t>
                        </m:r>
                        <m:r>
                          <a:rPr lang="en-PH" i="1"/>
                          <m:t>)</m:t>
                        </m:r>
                      </m:den>
                    </m:f>
                    <m:nary>
                      <m:naryPr>
                        <m:chr m:val="∑"/>
                        <m:limLoc m:val="undOvr"/>
                        <m:ctrlPr>
                          <a:rPr lang="en-PH" i="1"/>
                        </m:ctrlPr>
                      </m:naryPr>
                      <m:sub>
                        <m:r>
                          <a:rPr lang="en-PH" i="1"/>
                          <m:t>𝑖</m:t>
                        </m:r>
                        <m:r>
                          <a:rPr lang="en-PH" i="1"/>
                          <m:t>=1</m:t>
                        </m:r>
                      </m:sub>
                      <m:sup>
                        <m:r>
                          <a:rPr lang="en-PH" i="1"/>
                          <m:t>𝑁</m:t>
                        </m:r>
                        <m:r>
                          <a:rPr lang="en-PH" i="1"/>
                          <m:t>(</m:t>
                        </m:r>
                        <m:r>
                          <a:rPr lang="en-PH" i="1"/>
                          <m:t>h</m:t>
                        </m:r>
                        <m:r>
                          <a:rPr lang="en-PH" i="1"/>
                          <m:t>)</m:t>
                        </m:r>
                      </m:sup>
                      <m:e>
                        <m:sSup>
                          <m:sSupPr>
                            <m:ctrlPr>
                              <a:rPr lang="en-PH" i="1"/>
                            </m:ctrlPr>
                          </m:sSupPr>
                          <m:e>
                            <m:r>
                              <a:rPr lang="en-PH" i="1"/>
                              <m:t>[</m:t>
                            </m:r>
                            <m:r>
                              <a:rPr lang="en-PH" i="1"/>
                              <m:t>𝑍</m:t>
                            </m:r>
                            <m:d>
                              <m:dPr>
                                <m:ctrlPr>
                                  <a:rPr lang="en-PH" i="1"/>
                                </m:ctrlPr>
                              </m:dPr>
                              <m:e>
                                <m:sSub>
                                  <m:sSubPr>
                                    <m:ctrlPr>
                                      <a:rPr lang="en-PH" i="1"/>
                                    </m:ctrlPr>
                                  </m:sSubPr>
                                  <m:e>
                                    <m:r>
                                      <a:rPr lang="en-PH" i="1"/>
                                      <m:t>𝑥</m:t>
                                    </m:r>
                                  </m:e>
                                  <m:sub>
                                    <m:r>
                                      <a:rPr lang="en-PH" i="1"/>
                                      <m:t>𝑖</m:t>
                                    </m:r>
                                  </m:sub>
                                </m:sSub>
                                <m:r>
                                  <a:rPr lang="en-PH" i="1"/>
                                  <m:t>+</m:t>
                                </m:r>
                                <m:r>
                                  <a:rPr lang="en-PH" i="1"/>
                                  <m:t>h</m:t>
                                </m:r>
                              </m:e>
                            </m:d>
                            <m:r>
                              <a:rPr lang="en-PH" i="1"/>
                              <m:t>−</m:t>
                            </m:r>
                            <m:r>
                              <a:rPr lang="en-PH" i="1"/>
                              <m:t>𝑍</m:t>
                            </m:r>
                            <m:r>
                              <a:rPr lang="en-PH" i="1"/>
                              <m:t>(</m:t>
                            </m:r>
                            <m:sSub>
                              <m:sSubPr>
                                <m:ctrlPr>
                                  <a:rPr lang="en-PH" i="1"/>
                                </m:ctrlPr>
                              </m:sSubPr>
                              <m:e>
                                <m:r>
                                  <a:rPr lang="en-PH" i="1"/>
                                  <m:t>𝑥</m:t>
                                </m:r>
                              </m:e>
                              <m:sub>
                                <m:r>
                                  <a:rPr lang="en-PH" i="1"/>
                                  <m:t>𝑖</m:t>
                                </m:r>
                              </m:sub>
                            </m:sSub>
                            <m:r>
                              <a:rPr lang="en-PH" i="1"/>
                              <m:t>)]</m:t>
                            </m:r>
                          </m:e>
                          <m:sup>
                            <m:r>
                              <a:rPr lang="en-PH" i="1"/>
                              <m:t>2</m:t>
                            </m:r>
                          </m:sup>
                        </m:sSup>
                      </m:e>
                    </m:nary>
                  </m:oMath>
                </a14:m>
                <a:endParaRPr lang="en-PH" dirty="0"/>
              </a:p>
              <a:p>
                <a:pPr lvl="1"/>
                <a14:m>
                  <m:oMath xmlns:m="http://schemas.openxmlformats.org/officeDocument/2006/math">
                    <m:r>
                      <a:rPr lang="en-PH" i="1"/>
                      <m:t>h</m:t>
                    </m:r>
                  </m:oMath>
                </a14:m>
                <a:r>
                  <a:rPr lang="en-PH" dirty="0"/>
                  <a:t> is the lag variable;</a:t>
                </a:r>
              </a:p>
              <a:p>
                <a:pPr lvl="1"/>
                <a14:m>
                  <m:oMath xmlns:m="http://schemas.openxmlformats.org/officeDocument/2006/math">
                    <m:r>
                      <a:rPr lang="en-PH" i="1"/>
                      <m:t>𝑁</m:t>
                    </m:r>
                    <m:r>
                      <a:rPr lang="en-PH" i="1"/>
                      <m:t>(</m:t>
                    </m:r>
                    <m:r>
                      <a:rPr lang="en-PH" i="1"/>
                      <m:t>h</m:t>
                    </m:r>
                    <m:r>
                      <a:rPr lang="en-PH" i="1"/>
                      <m:t>)</m:t>
                    </m:r>
                  </m:oMath>
                </a14:m>
                <a:r>
                  <a:rPr lang="en-PH" dirty="0"/>
                  <a:t> represents the number of pairs possible, given </a:t>
                </a:r>
                <a14:m>
                  <m:oMath xmlns:m="http://schemas.openxmlformats.org/officeDocument/2006/math">
                    <m:r>
                      <a:rPr lang="en-PH" i="1"/>
                      <m:t>h</m:t>
                    </m:r>
                  </m:oMath>
                </a14:m>
                <a:r>
                  <a:rPr lang="en-PH" dirty="0"/>
                  <a:t>;</a:t>
                </a:r>
              </a:p>
              <a:p>
                <a:pPr lvl="1"/>
                <a14:m>
                  <m:oMath xmlns:m="http://schemas.openxmlformats.org/officeDocument/2006/math">
                    <m:r>
                      <a:rPr lang="en-PH" i="1"/>
                      <m:t>𝑍</m:t>
                    </m:r>
                  </m:oMath>
                </a14:m>
                <a:r>
                  <a:rPr lang="en-PH" dirty="0"/>
                  <a:t> is the given function (operator);</a:t>
                </a:r>
              </a:p>
              <a:p>
                <a:pPr lvl="1"/>
                <a14:m>
                  <m:oMath xmlns:m="http://schemas.openxmlformats.org/officeDocument/2006/math">
                    <m:r>
                      <a:rPr lang="en-PH" i="1"/>
                      <m:t>𝑍</m:t>
                    </m:r>
                    <m:r>
                      <a:rPr lang="en-PH" i="1"/>
                      <m:t>(</m:t>
                    </m:r>
                    <m:sSub>
                      <m:sSubPr>
                        <m:ctrlPr>
                          <a:rPr lang="en-PH" i="1"/>
                        </m:ctrlPr>
                      </m:sSubPr>
                      <m:e>
                        <m:r>
                          <a:rPr lang="en-PH" i="1"/>
                          <m:t>𝑥</m:t>
                        </m:r>
                      </m:e>
                      <m:sub>
                        <m:r>
                          <a:rPr lang="en-PH" i="1"/>
                          <m:t>𝑖</m:t>
                        </m:r>
                      </m:sub>
                    </m:sSub>
                    <m:r>
                      <a:rPr lang="en-PH" i="1"/>
                      <m:t>)</m:t>
                    </m:r>
                  </m:oMath>
                </a14:m>
                <a:r>
                  <a:rPr lang="en-PH" dirty="0"/>
                  <a:t> is the variable in consideration, as a function of spatially distributed </a:t>
                </a:r>
                <a14:m>
                  <m:oMath xmlns:m="http://schemas.openxmlformats.org/officeDocument/2006/math">
                    <m:sSub>
                      <m:sSubPr>
                        <m:ctrlPr>
                          <a:rPr lang="en-PH" i="1"/>
                        </m:ctrlPr>
                      </m:sSubPr>
                      <m:e>
                        <m:r>
                          <a:rPr lang="en-PH" i="1"/>
                          <m:t>𝑥</m:t>
                        </m:r>
                      </m:e>
                      <m:sub>
                        <m:r>
                          <a:rPr lang="en-PH" i="1"/>
                          <m:t>𝑖</m:t>
                        </m:r>
                      </m:sub>
                    </m:sSub>
                  </m:oMath>
                </a14:m>
                <a:r>
                  <a:rPr lang="en-PH" dirty="0"/>
                  <a:t>;</a:t>
                </a:r>
              </a:p>
              <a:p>
                <a:pPr lvl="1"/>
                <a14:m>
                  <m:oMath xmlns:m="http://schemas.openxmlformats.org/officeDocument/2006/math">
                    <m:r>
                      <a:rPr lang="en-PH" i="1"/>
                      <m:t>𝑍</m:t>
                    </m:r>
                    <m:r>
                      <a:rPr lang="en-PH" i="1"/>
                      <m:t>(</m:t>
                    </m:r>
                    <m:sSub>
                      <m:sSubPr>
                        <m:ctrlPr>
                          <a:rPr lang="en-PH" i="1"/>
                        </m:ctrlPr>
                      </m:sSubPr>
                      <m:e>
                        <m:r>
                          <a:rPr lang="en-PH" i="1"/>
                          <m:t>𝑥</m:t>
                        </m:r>
                      </m:e>
                      <m:sub>
                        <m:r>
                          <a:rPr lang="en-PH" i="1"/>
                          <m:t>𝑖</m:t>
                        </m:r>
                      </m:sub>
                    </m:sSub>
                    <m:r>
                      <a:rPr lang="en-PH" i="1"/>
                      <m:t>+</m:t>
                    </m:r>
                    <m:r>
                      <a:rPr lang="en-PH" i="1"/>
                      <m:t>h</m:t>
                    </m:r>
                    <m:r>
                      <a:rPr lang="en-PH" i="1"/>
                      <m:t>)</m:t>
                    </m:r>
                  </m:oMath>
                </a14:m>
                <a:r>
                  <a:rPr lang="en-PH" dirty="0"/>
                  <a:t> is the variable with lag </a:t>
                </a:r>
                <a14:m>
                  <m:oMath xmlns:m="http://schemas.openxmlformats.org/officeDocument/2006/math">
                    <m:r>
                      <a:rPr lang="en-PH" i="1"/>
                      <m:t>h</m:t>
                    </m:r>
                  </m:oMath>
                </a14:m>
                <a:r>
                  <a:rPr lang="en-PH" dirty="0" smtClean="0"/>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r="-2370"/>
                </a:stretch>
              </a:blipFill>
            </p:spPr>
            <p:txBody>
              <a:bodyPr/>
              <a:lstStyle/>
              <a:p>
                <a:r>
                  <a:rPr lang="en-PH">
                    <a:noFill/>
                  </a:rPr>
                  <a:t> </a:t>
                </a:r>
              </a:p>
            </p:txBody>
          </p:sp>
        </mc:Fallback>
      </mc:AlternateContent>
    </p:spTree>
    <p:extLst>
      <p:ext uri="{BB962C8B-B14F-4D97-AF65-F5344CB8AC3E}">
        <p14:creationId xmlns:p14="http://schemas.microsoft.com/office/powerpoint/2010/main" val="19079960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b="1" dirty="0" err="1" smtClean="0"/>
              <a:t>Semivariogram</a:t>
            </a:r>
            <a:r>
              <a:rPr lang="en-PH" b="1" dirty="0" smtClean="0"/>
              <a:t> (Poverty Incidence)</a:t>
            </a:r>
            <a:endParaRPr lang="en-PH"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33400" y="1600200"/>
            <a:ext cx="8077200" cy="4525963"/>
          </a:xfrm>
        </p:spPr>
      </p:pic>
    </p:spTree>
    <p:extLst>
      <p:ext uri="{BB962C8B-B14F-4D97-AF65-F5344CB8AC3E}">
        <p14:creationId xmlns:p14="http://schemas.microsoft.com/office/powerpoint/2010/main" val="2021508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b="1" dirty="0" err="1" smtClean="0"/>
              <a:t>Semivariogram</a:t>
            </a:r>
            <a:r>
              <a:rPr lang="en-PH" b="1" dirty="0" smtClean="0"/>
              <a:t> – Exponential (Red) vs. Spherical (Green) Fit</a:t>
            </a:r>
            <a:endParaRPr lang="en-PH" b="1"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447800" y="1600199"/>
            <a:ext cx="6144767" cy="5120640"/>
          </a:xfrm>
        </p:spPr>
      </p:pic>
      <p:pic>
        <p:nvPicPr>
          <p:cNvPr id="9" name="Content Placeholder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447800" y="1600199"/>
            <a:ext cx="6144767" cy="5120640"/>
          </a:xfrm>
          <a:prstGeom prst="rect">
            <a:avLst/>
          </a:prstGeom>
        </p:spPr>
      </p:pic>
    </p:spTree>
    <p:extLst>
      <p:ext uri="{BB962C8B-B14F-4D97-AF65-F5344CB8AC3E}">
        <p14:creationId xmlns:p14="http://schemas.microsoft.com/office/powerpoint/2010/main" val="3019683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err="1" smtClean="0"/>
              <a:t>Kriging</a:t>
            </a:r>
            <a:r>
              <a:rPr lang="en-PH" b="1" dirty="0" smtClean="0"/>
              <a:t> Estimator</a:t>
            </a:r>
            <a:endParaRPr lang="en-PH" b="1"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600200"/>
                <a:ext cx="8229600" cy="4800600"/>
              </a:xfrm>
            </p:spPr>
            <p:txBody>
              <a:bodyPr>
                <a:normAutofit fontScale="77500" lnSpcReduction="20000"/>
              </a:bodyPr>
              <a:lstStyle/>
              <a:p>
                <a:pPr marL="0" lvl="0" indent="0" algn="ctr">
                  <a:buNone/>
                </a:pPr>
                <a14:m>
                  <m:oMath xmlns:m="http://schemas.openxmlformats.org/officeDocument/2006/math">
                    <m:acc>
                      <m:accPr>
                        <m:chr m:val="̂"/>
                        <m:ctrlPr>
                          <a:rPr lang="en-PH" sz="4200" i="1"/>
                        </m:ctrlPr>
                      </m:accPr>
                      <m:e>
                        <m:r>
                          <a:rPr lang="en-PH" sz="4200" i="1"/>
                          <m:t>𝑍</m:t>
                        </m:r>
                        <m:r>
                          <a:rPr lang="en-PH" sz="4200" i="1"/>
                          <m:t>(</m:t>
                        </m:r>
                        <m:r>
                          <a:rPr lang="en-PH" sz="4200" i="1"/>
                          <m:t>𝑥</m:t>
                        </m:r>
                        <m:r>
                          <a:rPr lang="en-PH" sz="4200" i="1"/>
                          <m:t>)</m:t>
                        </m:r>
                      </m:e>
                    </m:acc>
                    <m:r>
                      <a:rPr lang="en-PH" sz="4200" i="1"/>
                      <m:t>−</m:t>
                    </m:r>
                    <m:r>
                      <a:rPr lang="en-PH" sz="4200" i="1"/>
                      <m:t>𝜇</m:t>
                    </m:r>
                    <m:d>
                      <m:dPr>
                        <m:ctrlPr>
                          <a:rPr lang="en-PH" sz="4200" i="1"/>
                        </m:ctrlPr>
                      </m:dPr>
                      <m:e>
                        <m:r>
                          <a:rPr lang="en-PH" sz="4200" i="1"/>
                          <m:t>𝑥</m:t>
                        </m:r>
                      </m:e>
                    </m:d>
                    <m:r>
                      <a:rPr lang="en-PH" sz="4200" i="1"/>
                      <m:t>=</m:t>
                    </m:r>
                    <m:nary>
                      <m:naryPr>
                        <m:chr m:val="∑"/>
                        <m:limLoc m:val="undOvr"/>
                        <m:ctrlPr>
                          <a:rPr lang="en-PH" sz="4200" i="1"/>
                        </m:ctrlPr>
                      </m:naryPr>
                      <m:sub>
                        <m:r>
                          <a:rPr lang="en-PH" sz="4200" i="1"/>
                          <m:t>𝑖</m:t>
                        </m:r>
                        <m:r>
                          <a:rPr lang="en-PH" sz="4200" i="1"/>
                          <m:t>=1</m:t>
                        </m:r>
                      </m:sub>
                      <m:sup>
                        <m:r>
                          <a:rPr lang="en-PH" sz="4200" i="1"/>
                          <m:t>𝑛</m:t>
                        </m:r>
                        <m:r>
                          <a:rPr lang="en-PH" sz="4200" i="1"/>
                          <m:t>(</m:t>
                        </m:r>
                        <m:r>
                          <a:rPr lang="en-PH" sz="4200" i="1"/>
                          <m:t>𝑥</m:t>
                        </m:r>
                        <m:r>
                          <a:rPr lang="en-PH" sz="4200" i="1"/>
                          <m:t>)</m:t>
                        </m:r>
                      </m:sup>
                      <m:e>
                        <m:sSub>
                          <m:sSubPr>
                            <m:ctrlPr>
                              <a:rPr lang="en-PH" sz="4200" i="1"/>
                            </m:ctrlPr>
                          </m:sSubPr>
                          <m:e>
                            <m:r>
                              <a:rPr lang="en-PH" sz="4200" i="1"/>
                              <m:t>𝜆</m:t>
                            </m:r>
                          </m:e>
                          <m:sub>
                            <m:r>
                              <a:rPr lang="en-PH" sz="4200" i="1"/>
                              <m:t>𝑖</m:t>
                            </m:r>
                          </m:sub>
                        </m:sSub>
                        <m:r>
                          <a:rPr lang="en-PH" sz="4200" i="1"/>
                          <m:t>[</m:t>
                        </m:r>
                        <m:r>
                          <a:rPr lang="en-PH" sz="4200" i="1"/>
                          <m:t>𝑍</m:t>
                        </m:r>
                        <m:d>
                          <m:dPr>
                            <m:ctrlPr>
                              <a:rPr lang="en-PH" sz="4200" i="1"/>
                            </m:ctrlPr>
                          </m:dPr>
                          <m:e>
                            <m:sSub>
                              <m:sSubPr>
                                <m:ctrlPr>
                                  <a:rPr lang="en-PH" sz="4200" i="1"/>
                                </m:ctrlPr>
                              </m:sSubPr>
                              <m:e>
                                <m:r>
                                  <a:rPr lang="en-PH" sz="4200" i="1"/>
                                  <m:t>𝑥</m:t>
                                </m:r>
                              </m:e>
                              <m:sub>
                                <m:r>
                                  <a:rPr lang="en-PH" sz="4200" i="1"/>
                                  <m:t>𝑖</m:t>
                                </m:r>
                              </m:sub>
                            </m:sSub>
                          </m:e>
                        </m:d>
                        <m:r>
                          <a:rPr lang="en-PH" sz="4200" i="1"/>
                          <m:t>−</m:t>
                        </m:r>
                        <m:r>
                          <a:rPr lang="en-PH" sz="4200" i="1"/>
                          <m:t>𝜇</m:t>
                        </m:r>
                        <m:r>
                          <a:rPr lang="en-PH" sz="4200" i="1"/>
                          <m:t>(</m:t>
                        </m:r>
                        <m:sSub>
                          <m:sSubPr>
                            <m:ctrlPr>
                              <a:rPr lang="en-PH" sz="4200" i="1"/>
                            </m:ctrlPr>
                          </m:sSubPr>
                          <m:e>
                            <m:r>
                              <a:rPr lang="en-PH" sz="4200" i="1"/>
                              <m:t>𝑥</m:t>
                            </m:r>
                          </m:e>
                          <m:sub>
                            <m:r>
                              <a:rPr lang="en-PH" sz="4200" i="1"/>
                              <m:t>𝑖</m:t>
                            </m:r>
                          </m:sub>
                        </m:sSub>
                        <m:r>
                          <a:rPr lang="en-PH" sz="4200" i="1"/>
                          <m:t>)]</m:t>
                        </m:r>
                      </m:e>
                    </m:nary>
                  </m:oMath>
                </a14:m>
                <a:r>
                  <a:rPr lang="en-PH" sz="4200" dirty="0"/>
                  <a:t> </a:t>
                </a:r>
                <a:endParaRPr lang="en-PH" sz="4200" dirty="0" smtClean="0"/>
              </a:p>
              <a:p>
                <a:endParaRPr lang="en-PH" sz="2100" dirty="0" smtClean="0"/>
              </a:p>
              <a:p>
                <a:r>
                  <a:rPr lang="en-PH" dirty="0" smtClean="0"/>
                  <a:t>a </a:t>
                </a:r>
                <a:r>
                  <a:rPr lang="en-PH" dirty="0"/>
                  <a:t>basic linear regression estimator </a:t>
                </a:r>
                <a14:m>
                  <m:oMath xmlns:m="http://schemas.openxmlformats.org/officeDocument/2006/math">
                    <m:acc>
                      <m:accPr>
                        <m:chr m:val="̂"/>
                        <m:ctrlPr>
                          <a:rPr lang="en-PH" i="1"/>
                        </m:ctrlPr>
                      </m:accPr>
                      <m:e>
                        <m:r>
                          <a:rPr lang="en-PH" i="1"/>
                          <m:t>𝑍</m:t>
                        </m:r>
                        <m:r>
                          <a:rPr lang="en-PH" i="1"/>
                          <m:t>(</m:t>
                        </m:r>
                        <m:r>
                          <a:rPr lang="en-PH" i="1"/>
                          <m:t>𝑥</m:t>
                        </m:r>
                        <m:r>
                          <a:rPr lang="en-PH" i="1"/>
                          <m:t>)</m:t>
                        </m:r>
                      </m:e>
                    </m:acc>
                  </m:oMath>
                </a14:m>
                <a:r>
                  <a:rPr lang="en-PH" dirty="0"/>
                  <a:t>, which estimates random variable </a:t>
                </a:r>
                <a14:m>
                  <m:oMath xmlns:m="http://schemas.openxmlformats.org/officeDocument/2006/math">
                    <m:r>
                      <a:rPr lang="en-PH" i="1"/>
                      <m:t>𝑍</m:t>
                    </m:r>
                    <m:r>
                      <a:rPr lang="en-PH" i="1"/>
                      <m:t>(</m:t>
                    </m:r>
                    <m:r>
                      <a:rPr lang="en-PH" i="1"/>
                      <m:t>𝑥</m:t>
                    </m:r>
                    <m:r>
                      <a:rPr lang="en-PH" i="1"/>
                      <m:t>)</m:t>
                    </m:r>
                  </m:oMath>
                </a14:m>
                <a:endParaRPr lang="en-PH" dirty="0"/>
              </a:p>
              <a:p>
                <a14:m>
                  <m:oMath xmlns:m="http://schemas.openxmlformats.org/officeDocument/2006/math">
                    <m:r>
                      <a:rPr lang="en-PH" i="1"/>
                      <m:t>𝑥</m:t>
                    </m:r>
                  </m:oMath>
                </a14:m>
                <a:r>
                  <a:rPr lang="en-PH" dirty="0"/>
                  <a:t>and </a:t>
                </a:r>
                <a14:m>
                  <m:oMath xmlns:m="http://schemas.openxmlformats.org/officeDocument/2006/math">
                    <m:sSub>
                      <m:sSubPr>
                        <m:ctrlPr>
                          <a:rPr lang="en-PH" i="1"/>
                        </m:ctrlPr>
                      </m:sSubPr>
                      <m:e>
                        <m:r>
                          <a:rPr lang="en-PH" i="1"/>
                          <m:t>𝑥</m:t>
                        </m:r>
                      </m:e>
                      <m:sub>
                        <m:r>
                          <a:rPr lang="en-PH" i="1"/>
                          <m:t>𝑖</m:t>
                        </m:r>
                      </m:sub>
                    </m:sSub>
                  </m:oMath>
                </a14:m>
                <a:r>
                  <a:rPr lang="en-PH" dirty="0"/>
                  <a:t> are vectors for location at the point of estimation, with </a:t>
                </a:r>
                <a14:m>
                  <m:oMath xmlns:m="http://schemas.openxmlformats.org/officeDocument/2006/math">
                    <m:sSub>
                      <m:sSubPr>
                        <m:ctrlPr>
                          <a:rPr lang="en-PH" i="1"/>
                        </m:ctrlPr>
                      </m:sSubPr>
                      <m:e>
                        <m:r>
                          <a:rPr lang="en-PH" i="1"/>
                          <m:t>𝑥</m:t>
                        </m:r>
                      </m:e>
                      <m:sub>
                        <m:r>
                          <a:rPr lang="en-PH" i="1"/>
                          <m:t>𝑖</m:t>
                        </m:r>
                      </m:sub>
                    </m:sSub>
                  </m:oMath>
                </a14:m>
                <a:r>
                  <a:rPr lang="en-PH" dirty="0"/>
                  <a:t> as indexed </a:t>
                </a:r>
                <a:r>
                  <a:rPr lang="en-PH" dirty="0" err="1"/>
                  <a:t>neighbor</a:t>
                </a:r>
                <a:r>
                  <a:rPr lang="en-PH" dirty="0"/>
                  <a:t> of </a:t>
                </a:r>
                <a14:m>
                  <m:oMath xmlns:m="http://schemas.openxmlformats.org/officeDocument/2006/math">
                    <m:r>
                      <a:rPr lang="en-PH" i="1"/>
                      <m:t>𝑥</m:t>
                    </m:r>
                  </m:oMath>
                </a14:m>
                <a:r>
                  <a:rPr lang="en-PH" dirty="0"/>
                  <a:t>;</a:t>
                </a:r>
              </a:p>
              <a:p>
                <a14:m>
                  <m:oMath xmlns:m="http://schemas.openxmlformats.org/officeDocument/2006/math">
                    <m:r>
                      <a:rPr lang="en-PH" i="1"/>
                      <m:t>𝜇</m:t>
                    </m:r>
                    <m:r>
                      <a:rPr lang="en-PH" i="1"/>
                      <m:t>(</m:t>
                    </m:r>
                    <m:r>
                      <a:rPr lang="en-PH" i="1"/>
                      <m:t>𝑥</m:t>
                    </m:r>
                    <m:r>
                      <a:rPr lang="en-PH" i="1"/>
                      <m:t>)</m:t>
                    </m:r>
                  </m:oMath>
                </a14:m>
                <a:r>
                  <a:rPr lang="en-PH" dirty="0"/>
                  <a:t>is the mean of </a:t>
                </a:r>
                <a14:m>
                  <m:oMath xmlns:m="http://schemas.openxmlformats.org/officeDocument/2006/math">
                    <m:r>
                      <a:rPr lang="en-PH" i="1"/>
                      <m:t>𝑍</m:t>
                    </m:r>
                    <m:r>
                      <a:rPr lang="en-PH" i="1"/>
                      <m:t>(</m:t>
                    </m:r>
                    <m:r>
                      <a:rPr lang="en-PH" i="1"/>
                      <m:t>𝑥</m:t>
                    </m:r>
                    <m:r>
                      <a:rPr lang="en-PH" i="1"/>
                      <m:t>)</m:t>
                    </m:r>
                  </m:oMath>
                </a14:m>
                <a:r>
                  <a:rPr lang="en-PH" dirty="0"/>
                  <a:t>, </a:t>
                </a:r>
                <a14:m>
                  <m:oMath xmlns:m="http://schemas.openxmlformats.org/officeDocument/2006/math">
                    <m:r>
                      <a:rPr lang="en-PH" i="1"/>
                      <m:t>𝜇</m:t>
                    </m:r>
                    <m:r>
                      <a:rPr lang="en-PH" i="1"/>
                      <m:t>(</m:t>
                    </m:r>
                    <m:sSub>
                      <m:sSubPr>
                        <m:ctrlPr>
                          <a:rPr lang="en-PH" i="1"/>
                        </m:ctrlPr>
                      </m:sSubPr>
                      <m:e>
                        <m:r>
                          <a:rPr lang="en-PH" i="1"/>
                          <m:t>𝑥</m:t>
                        </m:r>
                      </m:e>
                      <m:sub>
                        <m:r>
                          <a:rPr lang="en-PH" i="1"/>
                          <m:t>𝑖</m:t>
                        </m:r>
                      </m:sub>
                    </m:sSub>
                    <m:r>
                      <a:rPr lang="en-PH" i="1"/>
                      <m:t>)</m:t>
                    </m:r>
                  </m:oMath>
                </a14:m>
                <a:r>
                  <a:rPr lang="en-PH" dirty="0"/>
                  <a:t>is the mean of </a:t>
                </a:r>
                <a14:m>
                  <m:oMath xmlns:m="http://schemas.openxmlformats.org/officeDocument/2006/math">
                    <m:r>
                      <a:rPr lang="en-PH" i="1"/>
                      <m:t>𝑍</m:t>
                    </m:r>
                    <m:r>
                      <a:rPr lang="en-PH" i="1"/>
                      <m:t>(</m:t>
                    </m:r>
                    <m:sSub>
                      <m:sSubPr>
                        <m:ctrlPr>
                          <a:rPr lang="en-PH" i="1"/>
                        </m:ctrlPr>
                      </m:sSubPr>
                      <m:e>
                        <m:r>
                          <a:rPr lang="en-PH" i="1"/>
                          <m:t>𝑥</m:t>
                        </m:r>
                      </m:e>
                      <m:sub>
                        <m:r>
                          <a:rPr lang="en-PH" i="1"/>
                          <m:t>𝑖</m:t>
                        </m:r>
                      </m:sub>
                    </m:sSub>
                    <m:r>
                      <a:rPr lang="en-PH" i="1"/>
                      <m:t>)</m:t>
                    </m:r>
                  </m:oMath>
                </a14:m>
                <a:r>
                  <a:rPr lang="en-PH" dirty="0"/>
                  <a:t> i.e. the mean of neighbours of </a:t>
                </a:r>
                <a14:m>
                  <m:oMath xmlns:m="http://schemas.openxmlformats.org/officeDocument/2006/math">
                    <m:r>
                      <a:rPr lang="en-PH" i="1"/>
                      <m:t>𝑥</m:t>
                    </m:r>
                  </m:oMath>
                </a14:m>
                <a:r>
                  <a:rPr lang="en-PH" dirty="0"/>
                  <a:t>;</a:t>
                </a:r>
              </a:p>
              <a:p>
                <a14:m>
                  <m:oMath xmlns:m="http://schemas.openxmlformats.org/officeDocument/2006/math">
                    <m:r>
                      <a:rPr lang="en-PH" i="1"/>
                      <m:t>𝑛</m:t>
                    </m:r>
                    <m:r>
                      <a:rPr lang="en-PH" i="1"/>
                      <m:t>(</m:t>
                    </m:r>
                    <m:r>
                      <a:rPr lang="en-PH" i="1"/>
                      <m:t>𝑥</m:t>
                    </m:r>
                    <m:r>
                      <a:rPr lang="en-PH" i="1"/>
                      <m:t>)</m:t>
                    </m:r>
                  </m:oMath>
                </a14:m>
                <a:r>
                  <a:rPr lang="en-PH" dirty="0"/>
                  <a:t> the number of data points defined as part of </a:t>
                </a:r>
                <a14:m>
                  <m:oMath xmlns:m="http://schemas.openxmlformats.org/officeDocument/2006/math">
                    <m:r>
                      <a:rPr lang="en-PH" i="1"/>
                      <m:t>𝑥</m:t>
                    </m:r>
                  </m:oMath>
                </a14:m>
                <a:r>
                  <a:rPr lang="en-PH" dirty="0"/>
                  <a:t>’s </a:t>
                </a:r>
                <a:r>
                  <a:rPr lang="en-PH" dirty="0" err="1"/>
                  <a:t>neighborhood</a:t>
                </a:r>
                <a:r>
                  <a:rPr lang="en-PH" dirty="0"/>
                  <a:t>;</a:t>
                </a:r>
              </a:p>
              <a:p>
                <a14:m>
                  <m:oMath xmlns:m="http://schemas.openxmlformats.org/officeDocument/2006/math">
                    <m:sSub>
                      <m:sSubPr>
                        <m:ctrlPr>
                          <a:rPr lang="en-PH" i="1"/>
                        </m:ctrlPr>
                      </m:sSubPr>
                      <m:e>
                        <m:r>
                          <a:rPr lang="en-PH" i="1"/>
                          <m:t>𝜆</m:t>
                        </m:r>
                      </m:e>
                      <m:sub>
                        <m:r>
                          <a:rPr lang="en-PH" i="1"/>
                          <m:t>𝑖</m:t>
                        </m:r>
                      </m:sub>
                    </m:sSub>
                    <m:r>
                      <a:rPr lang="en-PH" i="1"/>
                      <m:t> </m:t>
                    </m:r>
                  </m:oMath>
                </a14:m>
                <a:r>
                  <a:rPr lang="en-PH" dirty="0"/>
                  <a:t>is the </a:t>
                </a:r>
                <a:r>
                  <a:rPr lang="en-PH" dirty="0" err="1"/>
                  <a:t>Kriging</a:t>
                </a:r>
                <a:r>
                  <a:rPr lang="en-PH" dirty="0"/>
                  <a:t> weight corresponding to </a:t>
                </a:r>
                <a14:m>
                  <m:oMath xmlns:m="http://schemas.openxmlformats.org/officeDocument/2006/math">
                    <m:r>
                      <a:rPr lang="en-PH" i="1"/>
                      <m:t>𝑧</m:t>
                    </m:r>
                    <m:r>
                      <a:rPr lang="en-PH" i="1"/>
                      <m:t>(</m:t>
                    </m:r>
                    <m:sSub>
                      <m:sSubPr>
                        <m:ctrlPr>
                          <a:rPr lang="en-PH" i="1"/>
                        </m:ctrlPr>
                      </m:sSubPr>
                      <m:e>
                        <m:r>
                          <a:rPr lang="en-PH" i="1"/>
                          <m:t>𝑥</m:t>
                        </m:r>
                      </m:e>
                      <m:sub>
                        <m:r>
                          <a:rPr lang="en-PH" i="1"/>
                          <m:t>𝑖</m:t>
                        </m:r>
                      </m:sub>
                    </m:sSub>
                    <m:r>
                      <a:rPr lang="en-PH" i="1"/>
                      <m:t>)</m:t>
                    </m:r>
                  </m:oMath>
                </a14:m>
                <a:r>
                  <a:rPr lang="en-PH" dirty="0"/>
                  <a:t>; These are derived from covariance function describing the residual </a:t>
                </a:r>
                <a14:m>
                  <m:oMath xmlns:m="http://schemas.openxmlformats.org/officeDocument/2006/math">
                    <m:r>
                      <a:rPr lang="en-PH" i="1"/>
                      <m:t>𝑍</m:t>
                    </m:r>
                    <m:d>
                      <m:dPr>
                        <m:ctrlPr>
                          <a:rPr lang="en-PH" i="1"/>
                        </m:ctrlPr>
                      </m:dPr>
                      <m:e>
                        <m:r>
                          <a:rPr lang="en-PH" i="1"/>
                          <m:t>𝑥</m:t>
                        </m:r>
                      </m:e>
                    </m:d>
                    <m:r>
                      <a:rPr lang="en-PH" i="1"/>
                      <m:t>−</m:t>
                    </m:r>
                    <m:r>
                      <a:rPr lang="en-PH" i="1"/>
                      <m:t>𝜇</m:t>
                    </m:r>
                    <m:r>
                      <a:rPr lang="en-PH" i="1"/>
                      <m:t>(</m:t>
                    </m:r>
                    <m:sSub>
                      <m:sSubPr>
                        <m:ctrlPr>
                          <a:rPr lang="en-PH" i="1"/>
                        </m:ctrlPr>
                      </m:sSubPr>
                      <m:e>
                        <m:r>
                          <a:rPr lang="en-PH" i="1"/>
                          <m:t>𝑥</m:t>
                        </m:r>
                      </m:e>
                      <m:sub>
                        <m:r>
                          <a:rPr lang="en-PH" i="1"/>
                          <m:t>𝑖</m:t>
                        </m:r>
                      </m:sub>
                    </m:sSub>
                    <m:r>
                      <a:rPr lang="en-PH" i="1"/>
                      <m:t>)</m:t>
                    </m:r>
                  </m:oMath>
                </a14:m>
                <a:r>
                  <a:rPr lang="en-PH" dirty="0"/>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1600200"/>
                <a:ext cx="8229600" cy="4800600"/>
              </a:xfrm>
              <a:blipFill rotWithShape="1">
                <a:blip r:embed="rId2"/>
                <a:stretch>
                  <a:fillRect l="-1037" t="-381" r="-296"/>
                </a:stretch>
              </a:blipFill>
            </p:spPr>
            <p:txBody>
              <a:bodyPr/>
              <a:lstStyle/>
              <a:p>
                <a:r>
                  <a:rPr lang="en-PH">
                    <a:noFill/>
                  </a:rPr>
                  <a:t> </a:t>
                </a:r>
              </a:p>
            </p:txBody>
          </p:sp>
        </mc:Fallback>
      </mc:AlternateContent>
    </p:spTree>
    <p:extLst>
      <p:ext uri="{BB962C8B-B14F-4D97-AF65-F5344CB8AC3E}">
        <p14:creationId xmlns:p14="http://schemas.microsoft.com/office/powerpoint/2010/main" val="600907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2514600" cy="2590800"/>
          </a:xfrm>
        </p:spPr>
        <p:txBody>
          <a:bodyPr>
            <a:normAutofit fontScale="90000"/>
          </a:bodyPr>
          <a:lstStyle/>
          <a:p>
            <a:r>
              <a:rPr lang="en-PH" b="1" dirty="0" smtClean="0"/>
              <a:t>Heat Map from the </a:t>
            </a:r>
            <a:r>
              <a:rPr lang="en-PH" b="1" dirty="0" err="1" smtClean="0"/>
              <a:t>Kriging</a:t>
            </a:r>
            <a:r>
              <a:rPr lang="en-PH" b="1" dirty="0" smtClean="0"/>
              <a:t> Estimator</a:t>
            </a:r>
            <a:endParaRPr lang="en-PH" b="1" dirty="0"/>
          </a:p>
        </p:txBody>
      </p:sp>
      <p:sp>
        <p:nvSpPr>
          <p:cNvPr id="3" name="Content Placeholder 2"/>
          <p:cNvSpPr>
            <a:spLocks noGrp="1"/>
          </p:cNvSpPr>
          <p:nvPr>
            <p:ph idx="1"/>
          </p:nvPr>
        </p:nvSpPr>
        <p:spPr>
          <a:xfrm>
            <a:off x="457200" y="2971800"/>
            <a:ext cx="2819400" cy="3154363"/>
          </a:xfrm>
        </p:spPr>
        <p:txBody>
          <a:bodyPr/>
          <a:lstStyle/>
          <a:p>
            <a:r>
              <a:rPr lang="en-PH" dirty="0" smtClean="0"/>
              <a:t>Note that the model accurately predicted two “peaks” of poverty.</a:t>
            </a:r>
            <a:endParaRPr lang="en-PH" dirty="0"/>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b="4374"/>
          <a:stretch/>
        </p:blipFill>
        <p:spPr>
          <a:xfrm>
            <a:off x="3276600" y="147600"/>
            <a:ext cx="5715000" cy="6558000"/>
          </a:xfrm>
          <a:prstGeom prst="rect">
            <a:avLst/>
          </a:prstGeom>
        </p:spPr>
      </p:pic>
    </p:spTree>
    <p:extLst>
      <p:ext uri="{BB962C8B-B14F-4D97-AF65-F5344CB8AC3E}">
        <p14:creationId xmlns:p14="http://schemas.microsoft.com/office/powerpoint/2010/main" val="4020068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PH" b="1" dirty="0" smtClean="0"/>
              <a:t>Polygon/</a:t>
            </a:r>
            <a:r>
              <a:rPr lang="en-PH" b="1" dirty="0" err="1" smtClean="0"/>
              <a:t>Zonal</a:t>
            </a:r>
            <a:r>
              <a:rPr lang="en-PH" b="1" dirty="0" smtClean="0"/>
              <a:t> </a:t>
            </a:r>
            <a:r>
              <a:rPr lang="en-PH" b="1" dirty="0" err="1" smtClean="0"/>
              <a:t>Statisics</a:t>
            </a:r>
            <a:r>
              <a:rPr lang="en-PH" b="1" dirty="0" smtClean="0"/>
              <a:t> </a:t>
            </a:r>
            <a:br>
              <a:rPr lang="en-PH" b="1" dirty="0" smtClean="0"/>
            </a:br>
            <a:r>
              <a:rPr lang="en-PH" b="1" dirty="0" smtClean="0"/>
              <a:t>Map for Cavite</a:t>
            </a:r>
            <a:endParaRPr lang="en-PH" b="1" dirty="0"/>
          </a:p>
        </p:txBody>
      </p:sp>
      <p:sp>
        <p:nvSpPr>
          <p:cNvPr id="3" name="Content Placeholder 2"/>
          <p:cNvSpPr>
            <a:spLocks noGrp="1"/>
          </p:cNvSpPr>
          <p:nvPr>
            <p:ph idx="1"/>
          </p:nvPr>
        </p:nvSpPr>
        <p:spPr>
          <a:xfrm>
            <a:off x="457200" y="1752600"/>
            <a:ext cx="2819400" cy="5029200"/>
          </a:xfrm>
        </p:spPr>
        <p:txBody>
          <a:bodyPr>
            <a:normAutofit fontScale="85000" lnSpcReduction="20000"/>
          </a:bodyPr>
          <a:lstStyle/>
          <a:p>
            <a:r>
              <a:rPr lang="en-PH" dirty="0" smtClean="0"/>
              <a:t>It is no longer necessary that Barangays within a municipality has the same poverty incidence.</a:t>
            </a:r>
          </a:p>
          <a:p>
            <a:r>
              <a:rPr lang="en-PH" dirty="0" smtClean="0"/>
              <a:t>See attached document (in .</a:t>
            </a:r>
            <a:r>
              <a:rPr lang="en-PH" dirty="0" err="1" smtClean="0"/>
              <a:t>xlsx</a:t>
            </a:r>
            <a:r>
              <a:rPr lang="en-PH" dirty="0" smtClean="0"/>
              <a:t>) for the actual predicted poverty incidence.</a:t>
            </a:r>
            <a:endParaRPr lang="en-PH" dirty="0"/>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t="9956" b="9646"/>
          <a:stretch/>
        </p:blipFill>
        <p:spPr>
          <a:xfrm>
            <a:off x="3276600" y="1344304"/>
            <a:ext cx="5715000" cy="5513696"/>
          </a:xfrm>
          <a:prstGeom prst="rect">
            <a:avLst/>
          </a:prstGeom>
        </p:spPr>
      </p:pic>
    </p:spTree>
    <p:extLst>
      <p:ext uri="{BB962C8B-B14F-4D97-AF65-F5344CB8AC3E}">
        <p14:creationId xmlns:p14="http://schemas.microsoft.com/office/powerpoint/2010/main" val="2878666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781682" y="1265237"/>
            <a:ext cx="3771636" cy="4525963"/>
          </a:xfrm>
          <a:prstGeom prst="rect">
            <a:avLst/>
          </a:prstGeom>
        </p:spPr>
      </p:pic>
      <p:pic>
        <p:nvPicPr>
          <p:cNvPr id="8" name="Content Placeholder 7"/>
          <p:cNvPicPr>
            <a:picLocks noGrp="1" noChangeAspect="1"/>
          </p:cNvPicPr>
          <p:nvPr>
            <p:ph sz="half" idx="1"/>
          </p:nvPr>
        </p:nvPicPr>
        <p:blipFill>
          <a:blip r:embed="rId3" cstate="print">
            <a:extLst>
              <a:ext uri="{28A0092B-C50C-407E-A947-70E740481C1C}">
                <a14:useLocalDpi xmlns:a14="http://schemas.microsoft.com/office/drawing/2010/main" val="0"/>
              </a:ext>
            </a:extLst>
          </a:blip>
          <a:stretch>
            <a:fillRect/>
          </a:stretch>
        </p:blipFill>
        <p:spPr>
          <a:xfrm>
            <a:off x="590682" y="1265237"/>
            <a:ext cx="3771636" cy="4525963"/>
          </a:xfrm>
          <a:prstGeom prst="rect">
            <a:avLst/>
          </a:prstGeom>
        </p:spPr>
      </p:pic>
      <p:sp>
        <p:nvSpPr>
          <p:cNvPr id="4" name="Title 3"/>
          <p:cNvSpPr>
            <a:spLocks noGrp="1"/>
          </p:cNvSpPr>
          <p:nvPr>
            <p:ph type="title"/>
          </p:nvPr>
        </p:nvSpPr>
        <p:spPr/>
        <p:txBody>
          <a:bodyPr>
            <a:normAutofit fontScale="90000"/>
          </a:bodyPr>
          <a:lstStyle/>
          <a:p>
            <a:r>
              <a:rPr lang="en-PH" b="1" dirty="0" smtClean="0"/>
              <a:t>Comparing the </a:t>
            </a:r>
            <a:r>
              <a:rPr lang="en-PH" b="1" dirty="0" err="1" smtClean="0"/>
              <a:t>Kriged</a:t>
            </a:r>
            <a:r>
              <a:rPr lang="en-PH" b="1" dirty="0" smtClean="0"/>
              <a:t> Estimates (Barangay) and the SAE (Municipality)</a:t>
            </a:r>
            <a:endParaRPr lang="en-PH" b="1" dirty="0"/>
          </a:p>
        </p:txBody>
      </p:sp>
      <p:sp>
        <p:nvSpPr>
          <p:cNvPr id="9" name="TextBox 8"/>
          <p:cNvSpPr txBox="1"/>
          <p:nvPr/>
        </p:nvSpPr>
        <p:spPr>
          <a:xfrm>
            <a:off x="388588" y="5410200"/>
            <a:ext cx="8145812" cy="1200329"/>
          </a:xfrm>
          <a:prstGeom prst="rect">
            <a:avLst/>
          </a:prstGeom>
          <a:noFill/>
        </p:spPr>
        <p:txBody>
          <a:bodyPr wrap="square" rtlCol="0">
            <a:spAutoFit/>
          </a:bodyPr>
          <a:lstStyle/>
          <a:p>
            <a:pPr algn="ctr"/>
            <a:r>
              <a:rPr lang="en-PH" sz="2400" dirty="0" smtClean="0"/>
              <a:t>Note that there are now gradations within municipalities. </a:t>
            </a:r>
            <a:r>
              <a:rPr lang="en-PH" sz="2400" dirty="0" err="1" smtClean="0"/>
              <a:t>Colors</a:t>
            </a:r>
            <a:r>
              <a:rPr lang="en-PH" sz="2400" dirty="0" smtClean="0"/>
              <a:t> of barangays depend on the poverty incidence not just of its own municipalities but also </a:t>
            </a:r>
            <a:r>
              <a:rPr lang="en-PH" sz="2400" dirty="0" err="1" smtClean="0"/>
              <a:t>neighboring</a:t>
            </a:r>
            <a:r>
              <a:rPr lang="en-PH" sz="2400" dirty="0" smtClean="0"/>
              <a:t> ones.</a:t>
            </a:r>
            <a:endParaRPr lang="en-PH" sz="2400" dirty="0"/>
          </a:p>
        </p:txBody>
      </p:sp>
    </p:spTree>
    <p:extLst>
      <p:ext uri="{BB962C8B-B14F-4D97-AF65-F5344CB8AC3E}">
        <p14:creationId xmlns:p14="http://schemas.microsoft.com/office/powerpoint/2010/main" val="1779639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PH" b="1" dirty="0" smtClean="0"/>
              <a:t>Next Steps</a:t>
            </a:r>
            <a:endParaRPr lang="en-PH" b="1" dirty="0"/>
          </a:p>
        </p:txBody>
      </p:sp>
      <p:sp>
        <p:nvSpPr>
          <p:cNvPr id="6" name="Content Placeholder 5"/>
          <p:cNvSpPr>
            <a:spLocks noGrp="1"/>
          </p:cNvSpPr>
          <p:nvPr>
            <p:ph idx="1"/>
          </p:nvPr>
        </p:nvSpPr>
        <p:spPr/>
        <p:txBody>
          <a:bodyPr/>
          <a:lstStyle/>
          <a:p>
            <a:r>
              <a:rPr lang="en-PH" dirty="0" smtClean="0"/>
              <a:t>Use a different centroid (most populous barangay, or barangay with highest household poverty incidence in a municipality [from NHTS-PR, if available])</a:t>
            </a:r>
          </a:p>
          <a:p>
            <a:r>
              <a:rPr lang="en-PH" dirty="0" smtClean="0"/>
              <a:t>Co-</a:t>
            </a:r>
            <a:r>
              <a:rPr lang="en-PH" dirty="0" err="1" smtClean="0"/>
              <a:t>Kriging</a:t>
            </a:r>
            <a:r>
              <a:rPr lang="en-PH" dirty="0" smtClean="0"/>
              <a:t> with other municipal-level variables which are known determinants of poverty – population (mostly from NHTS also)</a:t>
            </a:r>
            <a:endParaRPr lang="en-PH" dirty="0"/>
          </a:p>
        </p:txBody>
      </p:sp>
    </p:spTree>
    <p:extLst>
      <p:ext uri="{BB962C8B-B14F-4D97-AF65-F5344CB8AC3E}">
        <p14:creationId xmlns:p14="http://schemas.microsoft.com/office/powerpoint/2010/main" val="2293912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1237</TotalTime>
  <Words>972</Words>
  <Application>Microsoft Office PowerPoint</Application>
  <PresentationFormat>On-screen Show (4:3)</PresentationFormat>
  <Paragraphs>71</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An exploratory result Estimating Barangay Poverty Incidence  through Geostatistics</vt:lpstr>
      <vt:lpstr>Small Area Estimates of  Poverty Indicators</vt:lpstr>
      <vt:lpstr>Geographic Distance and SAE</vt:lpstr>
      <vt:lpstr>Assuming Poverty Clustering</vt:lpstr>
      <vt:lpstr>Zooming in on the SAE</vt:lpstr>
      <vt:lpstr>Test Case: Cavite Province</vt:lpstr>
      <vt:lpstr>From Shape to Point Data</vt:lpstr>
      <vt:lpstr>From Shape to Point Data</vt:lpstr>
      <vt:lpstr>H-Scatterplot of Poverty Incidence</vt:lpstr>
      <vt:lpstr>Geostatistics</vt:lpstr>
      <vt:lpstr>Steps in Kriging</vt:lpstr>
      <vt:lpstr>Semivariance</vt:lpstr>
      <vt:lpstr>Semivariogram (Poverty Incidence)</vt:lpstr>
      <vt:lpstr>Semivariogram – Exponential (Red) vs. Spherical (Green) Fit</vt:lpstr>
      <vt:lpstr>Kriging Estimator</vt:lpstr>
      <vt:lpstr>Heat Map from the Kriging Estimator</vt:lpstr>
      <vt:lpstr>Polygon/Zonal Statisics  Map for Cavite</vt:lpstr>
      <vt:lpstr>Comparing the Kriged Estimates (Barangay) and the SAE (Municipality)</vt:lpstr>
      <vt:lpstr>Next Steps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Estimating Barangay Poverty Incidence through Geostatistics</dc:title>
  <dc:creator>Toshiba</dc:creator>
  <cp:lastModifiedBy>Toshiba</cp:lastModifiedBy>
  <cp:revision>26</cp:revision>
  <dcterms:created xsi:type="dcterms:W3CDTF">2013-09-17T17:56:05Z</dcterms:created>
  <dcterms:modified xsi:type="dcterms:W3CDTF">2013-09-18T14:33:50Z</dcterms:modified>
</cp:coreProperties>
</file>